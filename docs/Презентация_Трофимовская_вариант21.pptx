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53fd4d17-5c6d-32b2-99e2-9cc1d94a74e5}">
          <p14:sldIdLst>
            <p14:sldId id="256"/>
            <p14:sldId id="257"/>
            <p14:sldId id="258"/>
          </p14:sldIdLst>
        </p14:section>
        <p14:section name="Схемы" id="{b9520a2b-2440-ff90-7bab-9f6907e9a4a7}">
          <p14:sldIdLst>
            <p14:sldId id="259"/>
            <p14:sldId id="260"/>
            <p14:sldId id="261"/>
            <p14:sldId id="262"/>
          </p14:sldIdLst>
        </p14:section>
        <p14:section name="Программа" id="{e37ca30c-3915-2bf7-7ea5-cf8a6e2639fd}">
          <p14:sldIdLst>
            <p14:sldId id="263"/>
          </p14:sldIdLst>
        </p14:section>
        <p14:section name="Данные" id="{36fa4aaf-2d43-91a9-f9b4-431560fdad42}">
          <p14:sldIdLst>
            <p14:sldId id="264"/>
            <p14:sldId id="265"/>
          </p14:sldIdLst>
        </p14:section>
        <p14:section name="Результаты" id="{5e30ccdd-12af-f4e1-665f-690a95c94de3}">
          <p14:sldIdLst>
            <p14:sldId id="266"/>
          </p14:sldIdLst>
        </p14:section>
        <p14:section name="Итоги" id="{34242ee2-1b15-ecb4-a8fc-e95449d2fb43}">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Дым s1, %</c:v>
                </c:pt>
              </c:strCache>
            </c:strRef>
          </c:tx>
          <c:spPr>
            <a:solidFill>
              <a:srgbClr val="1F6FB2"/>
            </a:solidFill>
            <a:ln w="25400" cap="flat">
              <a:solidFill>
                <a:srgbClr val="1F6F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6FB2"/>
              </a:solidFill>
              <a:ln w="9525" cap="flat">
                <a:solidFill>
                  <a:srgbClr val="1F6FB2"/>
                </a:solidFill>
                <a:prstDash val="solid"/>
                <a:round/>
              </a:ln>
              <a:effectLst/>
            </c:spPr>
          </c:marker>
          <c:cat>
            <c:multiLvlStrRef>
              <c:f>Sheet1!$A$2:$A$92</c:f>
              <c:multiLvlStrCache>
                <c:ptCount val="91"/>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lvl>
              </c:multiLvlStrCache>
            </c:multiLvlStrRef>
          </c:cat>
          <c:val>
            <c:numRef>
              <c:f>Sheet1!$B$2:$B$92</c:f>
              <c:numCache>
                <c:formatCode>General</c:formatCode>
                <c:ptCount val="91"/>
                <c:pt idx="0">
                  <c:v>80.5</c:v>
                </c:pt>
                <c:pt idx="1">
                  <c:v>80.5</c:v>
                </c:pt>
                <c:pt idx="2">
                  <c:v>80.5</c:v>
                </c:pt>
                <c:pt idx="3">
                  <c:v>80.5</c:v>
                </c:pt>
                <c:pt idx="4">
                  <c:v>80.5</c:v>
                </c:pt>
                <c:pt idx="5">
                  <c:v>80.5</c:v>
                </c:pt>
                <c:pt idx="6">
                  <c:v>80.5</c:v>
                </c:pt>
                <c:pt idx="7">
                  <c:v>80.5</c:v>
                </c:pt>
                <c:pt idx="8">
                  <c:v>80.5</c:v>
                </c:pt>
                <c:pt idx="9">
                  <c:v>80.5</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38.82</c:v>
                </c:pt>
                <c:pt idx="57">
                  <c:v>38.82</c:v>
                </c:pt>
                <c:pt idx="58">
                  <c:v>38.82</c:v>
                </c:pt>
                <c:pt idx="59">
                  <c:v>38.82</c:v>
                </c:pt>
                <c:pt idx="60">
                  <c:v>38.82</c:v>
                </c:pt>
                <c:pt idx="61">
                  <c:v>38.82</c:v>
                </c:pt>
                <c:pt idx="62">
                  <c:v>38.82</c:v>
                </c:pt>
                <c:pt idx="63">
                  <c:v>38.82</c:v>
                </c:pt>
                <c:pt idx="64">
                  <c:v>38.82</c:v>
                </c:pt>
                <c:pt idx="65">
                  <c:v>38.82</c:v>
                </c:pt>
                <c:pt idx="66">
                  <c:v>38.82</c:v>
                </c:pt>
                <c:pt idx="67">
                  <c:v>38.82</c:v>
                </c:pt>
                <c:pt idx="68">
                  <c:v>38.82</c:v>
                </c:pt>
                <c:pt idx="69">
                  <c:v>38.82</c:v>
                </c:pt>
                <c:pt idx="70">
                  <c:v>38.82</c:v>
                </c:pt>
                <c:pt idx="71">
                  <c:v>38.82</c:v>
                </c:pt>
                <c:pt idx="72">
                  <c:v>38.82</c:v>
                </c:pt>
                <c:pt idx="73">
                  <c:v>38.82</c:v>
                </c:pt>
                <c:pt idx="74">
                  <c:v>38.82</c:v>
                </c:pt>
                <c:pt idx="75">
                  <c:v>38.82</c:v>
                </c:pt>
                <c:pt idx="76">
                  <c:v>38.82</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numCache>
            </c:numRef>
          </c:val>
          <c:smooth val="0"/>
        </c:ser>
        <c:ser>
          <c:idx val="1"/>
          <c:order val="1"/>
          <c:tx>
            <c:strRef>
              <c:f>Sheet1!$C$1</c:f>
              <c:strCache>
                <c:ptCount val="1"/>
                <c:pt idx="0">
                  <c:v>Порог 25 %</c:v>
                </c:pt>
              </c:strCache>
            </c:strRef>
          </c:tx>
          <c:spPr>
            <a:solidFill>
              <a:srgbClr val="C9372C"/>
            </a:solidFill>
            <a:ln w="25400" cap="flat">
              <a:solidFill>
                <a:srgbClr val="C937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372C"/>
              </a:solidFill>
              <a:ln w="9525" cap="flat">
                <a:solidFill>
                  <a:srgbClr val="C9372C"/>
                </a:solidFill>
                <a:prstDash val="solid"/>
                <a:round/>
              </a:ln>
              <a:effectLst/>
            </c:spPr>
          </c:marker>
          <c:cat>
            <c:multiLvlStrRef>
              <c:f>Sheet1!$A$2:$A$92</c:f>
              <c:multiLvlStrCache>
                <c:ptCount val="91"/>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lvl>
              </c:multiLvlStrCache>
            </c:multiLvlStrRef>
          </c:cat>
          <c:val>
            <c:numRef>
              <c:f>Sheet1!$C$2:$C$92</c:f>
              <c:numCache>
                <c:formatCode>General</c:formatCode>
                <c:ptCount val="91"/>
                <c:pt idx="0">
                  <c:v>25</c:v>
                </c:pt>
                <c:pt idx="1">
                  <c:v>25</c:v>
                </c:pt>
                <c:pt idx="2">
                  <c:v>25</c:v>
                </c:pt>
                <c:pt idx="3">
                  <c:v>25</c:v>
                </c:pt>
                <c:pt idx="4">
                  <c:v>25</c:v>
                </c:pt>
                <c:pt idx="5">
                  <c:v>25</c:v>
                </c:pt>
                <c:pt idx="6">
                  <c:v>25</c:v>
                </c:pt>
                <c:pt idx="7">
                  <c:v>25</c:v>
                </c:pt>
                <c:pt idx="8">
                  <c:v>25</c:v>
                </c:pt>
                <c:pt idx="9">
                  <c:v>25</c:v>
                </c:pt>
                <c:pt idx="10">
                  <c:v>25</c:v>
                </c:pt>
                <c:pt idx="11">
                  <c:v>25</c:v>
                </c:pt>
                <c:pt idx="12">
                  <c:v>25</c:v>
                </c:pt>
                <c:pt idx="13">
                  <c:v>25</c:v>
                </c:pt>
                <c:pt idx="14">
                  <c:v>25</c:v>
                </c:pt>
                <c:pt idx="15">
                  <c:v>25</c:v>
                </c:pt>
                <c:pt idx="16">
                  <c:v>25</c:v>
                </c:pt>
                <c:pt idx="17">
                  <c:v>25</c:v>
                </c:pt>
                <c:pt idx="18">
                  <c:v>25</c:v>
                </c:pt>
                <c:pt idx="19">
                  <c:v>25</c:v>
                </c:pt>
                <c:pt idx="20">
                  <c:v>25</c:v>
                </c:pt>
                <c:pt idx="21">
                  <c:v>25</c:v>
                </c:pt>
                <c:pt idx="22">
                  <c:v>25</c:v>
                </c:pt>
                <c:pt idx="23">
                  <c:v>25</c:v>
                </c:pt>
                <c:pt idx="24">
                  <c:v>25</c:v>
                </c:pt>
                <c:pt idx="25">
                  <c:v>25</c:v>
                </c:pt>
                <c:pt idx="26">
                  <c:v>25</c:v>
                </c:pt>
                <c:pt idx="27">
                  <c:v>25</c:v>
                </c:pt>
                <c:pt idx="28">
                  <c:v>25</c:v>
                </c:pt>
                <c:pt idx="29">
                  <c:v>25</c:v>
                </c:pt>
                <c:pt idx="30">
                  <c:v>25</c:v>
                </c:pt>
                <c:pt idx="31">
                  <c:v>25</c:v>
                </c:pt>
                <c:pt idx="32">
                  <c:v>25</c:v>
                </c:pt>
                <c:pt idx="33">
                  <c:v>25</c:v>
                </c:pt>
                <c:pt idx="34">
                  <c:v>25</c:v>
                </c:pt>
                <c:pt idx="35">
                  <c:v>25</c:v>
                </c:pt>
                <c:pt idx="36">
                  <c:v>25</c:v>
                </c:pt>
                <c:pt idx="37">
                  <c:v>25</c:v>
                </c:pt>
                <c:pt idx="38">
                  <c:v>25</c:v>
                </c:pt>
                <c:pt idx="39">
                  <c:v>25</c:v>
                </c:pt>
                <c:pt idx="40">
                  <c:v>25</c:v>
                </c:pt>
                <c:pt idx="41">
                  <c:v>25</c:v>
                </c:pt>
                <c:pt idx="42">
                  <c:v>25</c:v>
                </c:pt>
                <c:pt idx="43">
                  <c:v>25</c:v>
                </c:pt>
                <c:pt idx="44">
                  <c:v>25</c:v>
                </c:pt>
                <c:pt idx="45">
                  <c:v>25</c:v>
                </c:pt>
                <c:pt idx="46">
                  <c:v>25</c:v>
                </c:pt>
                <c:pt idx="47">
                  <c:v>25</c:v>
                </c:pt>
                <c:pt idx="48">
                  <c:v>25</c:v>
                </c:pt>
                <c:pt idx="49">
                  <c:v>25</c:v>
                </c:pt>
                <c:pt idx="50">
                  <c:v>25</c:v>
                </c:pt>
                <c:pt idx="51">
                  <c:v>25</c:v>
                </c:pt>
                <c:pt idx="52">
                  <c:v>25</c:v>
                </c:pt>
                <c:pt idx="53">
                  <c:v>25</c:v>
                </c:pt>
                <c:pt idx="54">
                  <c:v>25</c:v>
                </c:pt>
                <c:pt idx="55">
                  <c:v>25</c:v>
                </c:pt>
                <c:pt idx="56">
                  <c:v>25</c:v>
                </c:pt>
                <c:pt idx="57">
                  <c:v>25</c:v>
                </c:pt>
                <c:pt idx="58">
                  <c:v>25</c:v>
                </c:pt>
                <c:pt idx="59">
                  <c:v>25</c:v>
                </c:pt>
                <c:pt idx="60">
                  <c:v>25</c:v>
                </c:pt>
                <c:pt idx="61">
                  <c:v>25</c:v>
                </c:pt>
                <c:pt idx="62">
                  <c:v>25</c:v>
                </c:pt>
                <c:pt idx="63">
                  <c:v>25</c:v>
                </c:pt>
                <c:pt idx="64">
                  <c:v>25</c:v>
                </c:pt>
                <c:pt idx="65">
                  <c:v>25</c:v>
                </c:pt>
                <c:pt idx="66">
                  <c:v>25</c:v>
                </c:pt>
                <c:pt idx="67">
                  <c:v>25</c:v>
                </c:pt>
                <c:pt idx="68">
                  <c:v>25</c:v>
                </c:pt>
                <c:pt idx="69">
                  <c:v>25</c:v>
                </c:pt>
                <c:pt idx="70">
                  <c:v>25</c:v>
                </c:pt>
                <c:pt idx="71">
                  <c:v>25</c:v>
                </c:pt>
                <c:pt idx="72">
                  <c:v>25</c:v>
                </c:pt>
                <c:pt idx="73">
                  <c:v>25</c:v>
                </c:pt>
                <c:pt idx="74">
                  <c:v>25</c:v>
                </c:pt>
                <c:pt idx="75">
                  <c:v>25</c:v>
                </c:pt>
                <c:pt idx="76">
                  <c:v>25</c:v>
                </c:pt>
                <c:pt idx="77">
                  <c:v>25</c:v>
                </c:pt>
                <c:pt idx="78">
                  <c:v>25</c:v>
                </c:pt>
                <c:pt idx="79">
                  <c:v>25</c:v>
                </c:pt>
                <c:pt idx="80">
                  <c:v>25</c:v>
                </c:pt>
                <c:pt idx="81">
                  <c:v>25</c:v>
                </c:pt>
                <c:pt idx="82">
                  <c:v>25</c:v>
                </c:pt>
                <c:pt idx="83">
                  <c:v>25</c:v>
                </c:pt>
                <c:pt idx="84">
                  <c:v>25</c:v>
                </c:pt>
                <c:pt idx="85">
                  <c:v>25</c:v>
                </c:pt>
                <c:pt idx="86">
                  <c:v>25</c:v>
                </c:pt>
                <c:pt idx="87">
                  <c:v>25</c:v>
                </c:pt>
                <c:pt idx="88">
                  <c:v>25</c:v>
                </c:pt>
                <c:pt idx="89">
                  <c:v>25</c:v>
                </c:pt>
                <c:pt idx="90">
                  <c:v>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F2747"/>
                    </a:solidFill>
                    <a:latin typeface="+mn-lt"/>
                  </a:defRPr>
                </a:pPr>
                <a:r>
                  <a:rPr sz="1200" b="0" i="0" u="none" strike="noStrike">
                    <a:solidFill>
                      <a:srgbClr val="0F2747"/>
                    </a:solidFill>
                    <a:latin typeface="+mn-lt"/>
                  </a:rPr>
                  <a:t>номер измерения 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2747"/>
                </a:solidFill>
                <a:latin typeface="+mn-lt"/>
              </a:defRPr>
            </a:pPr>
            <a:endParaRPr lang="en-US"/>
          </a:p>
        </c:txPr>
        <c:crossAx val="2094734552"/>
        <c:crosses val="autoZero"/>
        <c:auto val="1"/>
        <c:lblAlgn val="ctr"/>
        <c:noMultiLvlLbl val="1"/>
        <c:tickLblSkip val="10"/>
      </c:catAx>
      <c:valAx>
        <c:axId val="2094734552"/>
        <c:scaling>
          <c:orientation val="minMax"/>
          <c:max val="90"/>
          <c:min val="0"/>
        </c:scaling>
        <c:delete val="0"/>
        <c:axPos val="l"/>
        <c:majorGridlines>
          <c:spPr>
            <a:ln w="9525" cap="flat">
              <a:solidFill>
                <a:srgbClr val="D5E3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F2747"/>
                </a:solidFill>
                <a:latin typeface="+mn-lt"/>
              </a:defRPr>
            </a:pPr>
            <a:endParaRPr lang="en-US"/>
          </a:p>
        </c:txPr>
        <c:crossAx val="2094734554"/>
        <c:crosses val="autoZero"/>
        <c:crossBetween val="between"/>
        <c:majorUnit val="15"/>
      </c:valAx>
      <c:spPr>
        <a:noFill/>
        <a:ln>
          <a:noFill/>
        </a:ln>
        <a:effectLst/>
      </c:spPr>
    </c:plotArea>
    <c:legend>
      <c:legendPos val="b"/>
      <c:overlay val="0"/>
      <c:txPr>
        <a:bodyPr/>
        <a:lstStyle/>
        <a:p>
          <a:pPr>
            <a:defRPr sz="1200">
              <a:solidFill>
                <a:srgbClr val="0F274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Здравствуйте! Меня зовут Трофимовская Милена Олеговна, я студентка группы 54-15. Тема моего курсового проекта — разработка и сопровождение виртуальной системы сбора и учёта данных на Arduino. У меня вариант двадцать один, сценарий «Санузел». Руководители проекта — Борисов Егор Николаевич и Дадаев М. 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о плане выступления. Сначала постановка задачи и структура системы, затем алгоритм и аппаратная часть, модель в Wokwi и прошивка. После этого база данных и загрузка в Node-RED, тестирование, объём данных и Git, выводы. Содержание кликабельное: из него можно перейти к любому разделу, а с любого слайда вернуться обратно.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Система контролирует задымление, присутствие человека и влажность воздуха в санузле. Первый датчик — MQ2, аналоговый, он показывает уровень дыма от нуля до ста процентов. Второй — PIR, присутствие, ноль или единица. Третий — DHT22, относительная влажность. Датчики опрашиваются раз в секунду, но влажность DHT22 фактически обновляется раз в две секунды, в остальных циклах повторяется прежнее значение. Если дым превышает двадцать пять процентов, включаются реле вентилятора и красный светодиод. Когда дым спадает, всё выключается. Все данные попадают в журнал, а затем в базу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выглядит структурная схема. Слева три датчика, в центре плата Arduino Uno. Плата управляет реле вентилятора и светодиодом-индикатором, а по последовательному порту на скорости девять тысяч шестьсот бод передаёт текстовые строки DATA и EVENT. Эти строки я сохраняю в журнал, Node-RED разбирает его и загружает в базу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Алгоритм работы прошивки показан блок-схемой. Каждую секунду контроллер опрашивает три датчика и печатает строку DATA. Если дым выше двадцати пяти процентов, включаются реле вентилятора и красный светодиод, и печатается событие THRESHOLD. Когда дым возвращается в норму, они выключаются, и печатается NORMAL. Флаг alarm нужен, чтобы событие передавалось только при смене состояния, а не в каждом цикле.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Принципиальная схема выполнена в EasyEDA по требованиям ЕСКД. На ней плата Arduino, датчики дыма, движения и влажности, реле, два светодиода и два резистора. Красный светодиод D1 подключён к выводу D8 через резистор сто пятьдесят ом: пять вольт минус два вольта, делить на ноль целых двадцать сотых ампера. Шаг АЦП по дыму ноль целых сто шестьдесят восемь тысячных процента, шкала откалибрована от кода четыреста двадцать восемь. Суммарный ток потребления около трёхсот шести миллиампер, питания от USB хватает. Схема и перечень элементов оформлены на листах с рамкой, они приведены в приложениях Б и В записки.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 этой схеме я собрала модель в симуляторе Wokwi. Уровень дыма задаётся ползунком датчика MQ2 на входе A0, присутствие — датчиком PIR на выводе D2, влажность — датчиком DHT22 на выводе D3. Реле подключено к D7, светодиод — к D8. Реле включается при дыме выше порога и выключается при возврате в норму — на слайде скриншоты обоих состояний из симулятора. Файл diagram.json и скетч лежат в папке sim, а ссылка на проект указана в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Прошивка выводит в последовательный порт на скорости девять тысяч шестьсот бод строки двух видов. Строка DATA содержит номер цикла и три показания: дым, присутствие и влажность. Строка EVENT появляется только при смене состояния и содержит тип события THRESHOLD или NORMAL. Время измерения в базе вычисляется как номер цикла, умноженный на период в одну секунду. Строки сохраняются в журнал data/log.txt, он служит входом для Node-RED.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База данных SQLite состоит из двух таблиц. В таблице readings показания хранятся в длинном формате: одна строка на один датчик в одном цикле. В таблице events лежат события THRESHOLD, NORMAL и FAULT. Подготовлены четыре контрольных запроса: десять последних показаний, минимум, среднее и максимум по каждому датчику, список всех событий и количество записей в таблицах.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Поток Node-RED следит за файлом data/log.txt. При сохранении файла он читает журнал, функция разбирает строки, проверяет диапазоны и формирует SQL-скрипт load.sql, а узел exec загружает его в базу командой sqlite3. Скрипт начинается с очистки таблиц, поэтому повторная загрузка не создаёт дублей. Если значение датчика вне диапазона или отсутствует, записывается событие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Проверка выполнена в симуляторе Wokwi, журнал сохранён без изменений: девяносто один цикл. Сначала дым выше порога — событие THRESHOLD, вентилятор и светодиод включены. На одиннадцатом цикле дым снижен до нуля — событие NORMAL, они выключаются. На пятьдесят седьмом цикле дым поднят до тридцати восьми целых восьмидесяти двух сотых процента — снова THRESHOLD, на семьдесят восьмом — NORMAL. В базе оказалось двести семьдесят три показания и четыре события. Когда в журнал подали значение девятьсот девяносто девять для датчика дыма, записалось событие FAULT. Повторная загрузка дублей не создаёт.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Расчёт объёма для непрерывной работы: двести пятьдесят девять тысяч записей в сутки, около десяти целых четырёх десятых мегабайта, за тридцать суток около трёхсот одиннадцати мегабайт. Проект ведётся в репозитории Git с названием kyrsovaya21 на GitHub. В нём папки firmware, db, nodered, data, sim и docs. Выполнено пять коммитов по этапам работы, на финальной версии стоит метка v1.0. Файл базы данных и load.sql в репозиторий не входят, потому что создаются автоматически.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итоге разработана и проверена виртуальная система для сценария «Санузел»: принципиальная схема, модель в Wokwi, прошивка, база данных и загрузка через Node-RED с контролем неисправностей. Что можно улучшить: читать DHT22 раз в две секунды, добавить задержку выключения вентилятора и записывать журнал на SD-карту. Спасибо за внимание, готова ответить на вопросы.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Весь проект доступен в репозитории на GitHub. Достаточно навести камеру телефона на QR-код или открыть ссылку github.com/volan11/kyrsovaya21: там лежат прошивка, модель Wokwi, база данных, поток Node-RED, журналы, схемы, записка и презентация. Спасибо за внимание, готова ответить на вопросы.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274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2747"/>
          </a:solidFill>
          <a:ln/>
        </p:spPr>
      </p:sp>
      <p:sp>
        <p:nvSpPr>
          <p:cNvPr id="3" name="Shape 1"/>
          <p:cNvSpPr/>
          <p:nvPr/>
        </p:nvSpPr>
        <p:spPr>
          <a:xfrm>
            <a:off x="0" y="868680"/>
            <a:ext cx="9144000" cy="41148"/>
          </a:xfrm>
          <a:prstGeom prst="rect">
            <a:avLst/>
          </a:prstGeom>
          <a:solidFill>
            <a:srgbClr val="C9A227"/>
          </a:solidFill>
          <a:ln/>
        </p:spPr>
      </p:sp>
      <p:sp>
        <p:nvSpPr>
          <p:cNvPr id="4" name="Shape 2"/>
          <p:cNvSpPr/>
          <p:nvPr/>
        </p:nvSpPr>
        <p:spPr>
          <a:xfrm>
            <a:off x="7040880" y="0"/>
            <a:ext cx="457200" cy="868680"/>
          </a:xfrm>
          <a:prstGeom prst="rect">
            <a:avLst/>
          </a:prstGeom>
          <a:solidFill>
            <a:srgbClr val="1F6FB2">
              <a:alpha val="45000"/>
            </a:srgbClr>
          </a:solidFill>
          <a:ln/>
        </p:spPr>
      </p:sp>
      <p:sp>
        <p:nvSpPr>
          <p:cNvPr id="5" name="Shape 3"/>
          <p:cNvSpPr/>
          <p:nvPr/>
        </p:nvSpPr>
        <p:spPr>
          <a:xfrm>
            <a:off x="7498080" y="0"/>
            <a:ext cx="1645920" cy="868680"/>
          </a:xfrm>
          <a:prstGeom prst="rect">
            <a:avLst/>
          </a:prstGeom>
          <a:solidFill>
            <a:srgbClr val="1F6FB2">
              <a:alpha val="25000"/>
            </a:srgbClr>
          </a:solidFill>
          <a:ln/>
        </p:spPr>
      </p:sp>
      <p:sp>
        <p:nvSpPr>
          <p:cNvPr id="6" name="Shape 4"/>
          <p:cNvSpPr/>
          <p:nvPr/>
        </p:nvSpPr>
        <p:spPr>
          <a:xfrm>
            <a:off x="457200" y="4773168"/>
            <a:ext cx="8229600" cy="0"/>
          </a:xfrm>
          <a:prstGeom prst="line">
            <a:avLst/>
          </a:prstGeom>
          <a:noFill/>
          <a:ln w="9525">
            <a:solidFill>
              <a:srgbClr val="D3DCE8"/>
            </a:solidFill>
            <a:prstDash val="solid"/>
          </a:ln>
        </p:spPr>
      </p:sp>
      <p:sp>
        <p:nvSpPr>
          <p:cNvPr id="7" name="Text 5"/>
          <p:cNvSpPr/>
          <p:nvPr>
            <p:ph idx="105" type="title" hasCustomPrompt="1"/>
          </p:nvPr>
        </p:nvSpPr>
        <p:spPr>
          <a:xfrm>
            <a:off x="1143000" y="137160"/>
            <a:ext cx="5852160" cy="594360"/>
          </a:xfrm>
          <a:prstGeom prst="rect">
            <a:avLst/>
          </a:prstGeom>
          <a:noFill/>
          <a:ln/>
        </p:spPr>
        <p:txBody>
          <a:bodyPr wrap="square" rtlCol="0"/>
          <a:lstStyle>
            <a:lvl1pPr algn="l" indent="0" marL="0">
              <a:buNone/>
              <a:defRPr lang="en-US" sz="2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3.xml"/><Relationship Id="rId5" Type="http://schemas.openxmlformats.org/officeDocument/2006/relationships/slide" Target="slide4.xml"/><Relationship Id="rId7" Type="http://schemas.openxmlformats.org/officeDocument/2006/relationships/slide" Target="slide5.xml"/><Relationship Id="rId9" Type="http://schemas.openxmlformats.org/officeDocument/2006/relationships/slide" Target="slide6.xml"/><Relationship Id="rId11" Type="http://schemas.openxmlformats.org/officeDocument/2006/relationships/slide" Target="slide7.xml"/><Relationship Id="rId13" Type="http://schemas.openxmlformats.org/officeDocument/2006/relationships/slide" Target="slide8.xml"/><Relationship Id="rId15" Type="http://schemas.openxmlformats.org/officeDocument/2006/relationships/slide" Target="slide9.xml"/><Relationship Id="rId17" Type="http://schemas.openxmlformats.org/officeDocument/2006/relationships/slide" Target="slide10.xml"/><Relationship Id="rId19" Type="http://schemas.openxmlformats.org/officeDocument/2006/relationships/slide" Target="slide11.xml"/><Relationship Id="rId21" Type="http://schemas.openxmlformats.org/officeDocument/2006/relationships/slide" Target="slide12.xml"/><Relationship Id="rId23" Type="http://schemas.openxmlformats.org/officeDocument/2006/relationships/slide" Target="slide13.xml"/><Relationship Id="rId25" Type="http://schemas.openxmlformats.org/officeDocument/2006/relationships/slide" Target="slide14.xml"/><Relationship Id="rId2" Type="http://schemas.openxmlformats.org/officeDocument/2006/relationships/image" Target="../media/image-2-1.png"/><Relationship Id="rId4" Type="http://schemas.openxmlformats.org/officeDocument/2006/relationships/image" Target="../media/image-2-1.png"/><Relationship Id="rId6" Type="http://schemas.openxmlformats.org/officeDocument/2006/relationships/image" Target="../media/image-2-1.png"/><Relationship Id="rId8" Type="http://schemas.openxmlformats.org/officeDocument/2006/relationships/image" Target="../media/image-2-1.png"/><Relationship Id="rId10" Type="http://schemas.openxmlformats.org/officeDocument/2006/relationships/image" Target="../media/image-2-1.png"/><Relationship Id="rId12" Type="http://schemas.openxmlformats.org/officeDocument/2006/relationships/image" Target="../media/image-2-1.png"/><Relationship Id="rId14" Type="http://schemas.openxmlformats.org/officeDocument/2006/relationships/image" Target="../media/image-2-1.png"/><Relationship Id="rId16" Type="http://schemas.openxmlformats.org/officeDocument/2006/relationships/image" Target="../media/image-2-1.png"/><Relationship Id="rId18" Type="http://schemas.openxmlformats.org/officeDocument/2006/relationships/image" Target="../media/image-2-1.png"/><Relationship Id="rId20" Type="http://schemas.openxmlformats.org/officeDocument/2006/relationships/image" Target="../media/image-2-1.png"/><Relationship Id="rId22" Type="http://schemas.openxmlformats.org/officeDocument/2006/relationships/image" Target="../media/image-2-1.png"/><Relationship Id="rId24" Type="http://schemas.openxmlformats.org/officeDocument/2006/relationships/image" Target="../media/image-2-1.png"/><Relationship Id="rId26" Type="http://schemas.openxmlformats.org/officeDocument/2006/relationships/slideLayout" Target="../slideLayouts/slideLayout3.xml"/><Relationship Id="rId2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volan11/kyrsovaya21" TargetMode="External"/><Relationship Id="rId3" Type="http://schemas.openxmlformats.org/officeDocument/2006/relationships/hyperlink" Target="https://github.com/volan11/kyrsovaya21" TargetMode="External"/><Relationship Id="rId4" Type="http://schemas.openxmlformats.org/officeDocument/2006/relationships/slide" Target="slide2.xml"/><Relationship Id="rId2" Type="http://schemas.openxmlformats.org/officeDocument/2006/relationships/image" Target="../media/image-14-1.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декор 1"/>
          <p:cNvSpPr/>
          <p:nvPr/>
        </p:nvSpPr>
        <p:spPr>
          <a:xfrm rot="1080000">
            <a:off x="5760720" y="-548640"/>
            <a:ext cx="2011680" cy="6400800"/>
          </a:xfrm>
          <a:prstGeom prst="rect">
            <a:avLst/>
          </a:prstGeom>
          <a:solidFill>
            <a:srgbClr val="1F6FB2">
              <a:alpha val="40000"/>
            </a:srgbClr>
          </a:solidFill>
          <a:ln w="12700">
            <a:solidFill>
              <a:srgbClr val="1F6FB2"/>
            </a:solidFill>
            <a:prstDash val="solid"/>
          </a:ln>
        </p:spPr>
      </p:sp>
      <p:sp>
        <p:nvSpPr>
          <p:cNvPr id="4" name="декор 2"/>
          <p:cNvSpPr/>
          <p:nvPr/>
        </p:nvSpPr>
        <p:spPr>
          <a:xfrm rot="1080000">
            <a:off x="7223760" y="-548640"/>
            <a:ext cx="2377440" cy="6400800"/>
          </a:xfrm>
          <a:prstGeom prst="rect">
            <a:avLst/>
          </a:prstGeom>
          <a:solidFill>
            <a:srgbClr val="1F6FB2">
              <a:alpha val="20000"/>
            </a:srgbClr>
          </a:solidFill>
          <a:ln w="12700">
            <a:solidFill>
              <a:srgbClr val="1F6FB2"/>
            </a:solidFill>
            <a:prstDash val="solid"/>
          </a:ln>
        </p:spPr>
      </p:sp>
      <p:sp>
        <p:nvSpPr>
          <p:cNvPr id="5" name="золотая черта"/>
          <p:cNvSpPr/>
          <p:nvPr/>
        </p:nvSpPr>
        <p:spPr>
          <a:xfrm>
            <a:off x="640080" y="914400"/>
            <a:ext cx="822960" cy="54864"/>
          </a:xfrm>
          <a:prstGeom prst="rect">
            <a:avLst/>
          </a:prstGeom>
          <a:solidFill>
            <a:srgbClr val="C9A227"/>
          </a:solidFill>
          <a:ln w="12700">
            <a:solidFill>
              <a:srgbClr val="C9A227"/>
            </a:solidFill>
            <a:prstDash val="solid"/>
          </a:ln>
        </p:spPr>
      </p:sp>
      <p:sp>
        <p:nvSpPr>
          <p:cNvPr id="6" name="надзаголовок"/>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300" b="1" spc="300" kern="0" dirty="0">
                <a:solidFill>
                  <a:srgbClr val="C9A227"/>
                </a:solidFill>
              </a:rPr>
              <a:t>КУРСОВОЙ ПРОЕКТ · ПМ.02</a:t>
            </a:r>
            <a:endParaRPr lang="en-US" sz="1300" dirty="0"/>
          </a:p>
        </p:txBody>
      </p:sp>
      <p:sp>
        <p:nvSpPr>
          <p:cNvPr id="7" name="название проекта"/>
          <p:cNvSpPr txBox="1"/>
          <p:nvPr/>
        </p:nvSpPr>
        <p:spPr>
          <a:xfrm>
            <a:off x="640080" y="1188720"/>
            <a:ext cx="6217920" cy="1645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Разработка и сопровождение виртуальной системы сбора и учёта данных на Arduino</a:t>
            </a:r>
            <a:endParaRPr lang="en-US" sz="2600" dirty="0"/>
          </a:p>
        </p:txBody>
      </p:sp>
      <p:sp>
        <p:nvSpPr>
          <p:cNvPr id="8" name="вариант"/>
          <p:cNvSpPr txBox="1"/>
          <p:nvPr/>
        </p:nvSpPr>
        <p:spPr>
          <a:xfrm>
            <a:off x="640080" y="2971800"/>
            <a:ext cx="5852160" cy="411480"/>
          </a:xfrm>
          <a:prstGeom prst="rect">
            <a:avLst/>
          </a:prstGeom>
          <a:noFill/>
          <a:ln/>
        </p:spPr>
        <p:txBody>
          <a:bodyPr wrap="square" lIns="0" tIns="0" rIns="0" bIns="0" rtlCol="0" anchor="ctr"/>
          <a:lstStyle/>
          <a:p>
            <a:pPr indent="0" marL="0">
              <a:buNone/>
            </a:pPr>
            <a:r>
              <a:rPr lang="en-US" sz="2000" dirty="0">
                <a:solidFill>
                  <a:srgbClr val="DCE8F5"/>
                </a:solidFill>
                <a:latin typeface="Cambria" pitchFamily="34" charset="0"/>
                <a:ea typeface="Cambria" pitchFamily="34" charset="-122"/>
                <a:cs typeface="Cambria" pitchFamily="34" charset="-120"/>
              </a:rPr>
              <a:t>Вариант 21 · «Санузел»</a:t>
            </a:r>
            <a:endParaRPr lang="en-US" sz="2000" dirty="0"/>
          </a:p>
        </p:txBody>
      </p:sp>
      <p:sp>
        <p:nvSpPr>
          <p:cNvPr id="9" name="автор и руководители"/>
          <p:cNvSpPr txBox="1"/>
          <p:nvPr/>
        </p:nvSpPr>
        <p:spPr>
          <a:xfrm>
            <a:off x="640080" y="3611880"/>
            <a:ext cx="6035040" cy="868680"/>
          </a:xfrm>
          <a:prstGeom prst="rect">
            <a:avLst/>
          </a:prstGeom>
          <a:noFill/>
          <a:ln/>
        </p:spPr>
        <p:txBody>
          <a:bodyPr wrap="square" lIns="0" tIns="0" rIns="0" bIns="0" rtlCol="0" anchor="t"/>
          <a:lstStyle/>
          <a:p>
            <a:pPr indent="0" marL="0">
              <a:buNone/>
            </a:pPr>
            <a:r>
              <a:rPr lang="en-US" sz="1300" dirty="0">
                <a:solidFill>
                  <a:srgbClr val="FFFFFF"/>
                </a:solidFill>
              </a:rPr>
              <a:t>Выполнила: Трофимовская Милена Олеговна, группа 54-15</a:t>
            </a:r>
            <a:endParaRPr lang="en-US" sz="1300" dirty="0"/>
          </a:p>
          <a:p>
            <a:pPr indent="0" marL="0">
              <a:buNone/>
            </a:pPr>
            <a:r>
              <a:rPr lang="en-US" sz="1300" dirty="0">
                <a:solidFill>
                  <a:srgbClr val="FFFFFF"/>
                </a:solidFill>
              </a:rPr>
              <a:t>Специальность 09.02.08 «Интеллектуальные интегрированные системы»</a:t>
            </a:r>
            <a:endParaRPr lang="en-US" sz="1300" dirty="0"/>
          </a:p>
          <a:p>
            <a:pPr indent="0" marL="0">
              <a:buNone/>
            </a:pPr>
            <a:r>
              <a:rPr lang="en-US" sz="1300" dirty="0">
                <a:solidFill>
                  <a:srgbClr val="FFFFFF"/>
                </a:solidFill>
              </a:rPr>
              <a:t>Руководители: Борисов Е.Н., Дадаев М.В.</a:t>
            </a:r>
            <a:endParaRPr lang="en-US" sz="1300" dirty="0"/>
          </a:p>
        </p:txBody>
      </p:sp>
      <p:sp>
        <p:nvSpPr>
          <p:cNvPr id="10" name="колледж"/>
          <p:cNvSpPr txBox="1"/>
          <p:nvPr/>
        </p:nvSpPr>
        <p:spPr>
          <a:xfrm>
            <a:off x="640080" y="4572000"/>
            <a:ext cx="6035040" cy="274320"/>
          </a:xfrm>
          <a:prstGeom prst="rect">
            <a:avLst/>
          </a:prstGeom>
          <a:noFill/>
          <a:ln/>
        </p:spPr>
        <p:txBody>
          <a:bodyPr wrap="square" lIns="0" tIns="0" rIns="0" bIns="0" rtlCol="0" anchor="ctr"/>
          <a:lstStyle/>
          <a:p>
            <a:pPr indent="0" marL="0">
              <a:buNone/>
            </a:pPr>
            <a:r>
              <a:rPr lang="en-US" sz="1100" dirty="0">
                <a:solidFill>
                  <a:srgbClr val="AFC3DA"/>
                </a:solidFill>
              </a:rPr>
              <a:t>СПб ГБПОУ «Петровский колледж» · Санкт-Петербург,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02</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Содержание</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Введение</a:t>
            </a:r>
            <a:endParaRPr lang="en-US" sz="1000" dirty="0"/>
          </a:p>
        </p:txBody>
      </p:sp>
      <p:sp>
        <p:nvSpPr>
          <p:cNvPr id="8" name="строка содержания 1"/>
          <p:cNvSpPr/>
          <p:nvPr/>
        </p:nvSpPr>
        <p:spPr>
          <a:xfrm>
            <a:off x="457200" y="1143000"/>
            <a:ext cx="4023360" cy="493776"/>
          </a:xfrm>
          <a:prstGeom prst="rect">
            <a:avLst/>
          </a:prstGeom>
          <a:solidFill>
            <a:srgbClr val="F3F6FA"/>
          </a:solidFill>
          <a:ln w="9525">
            <a:solidFill>
              <a:srgbClr val="D3DCE8"/>
            </a:solidFill>
            <a:prstDash val="solid"/>
          </a:ln>
        </p:spPr>
      </p:sp>
      <p:sp>
        <p:nvSpPr>
          <p:cNvPr id="9" name="номер пункта 1"/>
          <p:cNvSpPr/>
          <p:nvPr/>
        </p:nvSpPr>
        <p:spPr>
          <a:xfrm>
            <a:off x="457200" y="1143000"/>
            <a:ext cx="566928" cy="493776"/>
          </a:xfrm>
          <a:prstGeom prst="rect">
            <a:avLst/>
          </a:prstGeom>
          <a:solidFill>
            <a:srgbClr val="1F6FB2"/>
          </a:solidFill>
          <a:ln w="12700">
            <a:solidFill>
              <a:srgbClr val="1F6FB2"/>
            </a:solidFill>
            <a:prstDash val="solid"/>
          </a:ln>
        </p:spPr>
      </p:sp>
      <p:sp>
        <p:nvSpPr>
          <p:cNvPr id="10" name="номер 1"/>
          <p:cNvSpPr txBox="1"/>
          <p:nvPr/>
        </p:nvSpPr>
        <p:spPr>
          <a:xfrm>
            <a:off x="457200" y="1143000"/>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11" name="пункт 1"/>
          <p:cNvSpPr txBox="1"/>
          <p:nvPr/>
        </p:nvSpPr>
        <p:spPr>
          <a:xfrm>
            <a:off x="1188720" y="1143000"/>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Постановка задачи</a:t>
            </a:r>
            <a:endParaRPr lang="en-US" sz="1500" dirty="0"/>
          </a:p>
        </p:txBody>
      </p:sp>
      <p:sp>
        <p:nvSpPr>
          <p:cNvPr id="12" name="страница 1"/>
          <p:cNvSpPr txBox="1"/>
          <p:nvPr/>
        </p:nvSpPr>
        <p:spPr>
          <a:xfrm>
            <a:off x="3703320" y="1143000"/>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3</a:t>
            </a:r>
            <a:endParaRPr lang="en-US" sz="1000" dirty="0"/>
          </a:p>
        </p:txBody>
      </p:sp>
      <p:pic>
        <p:nvPicPr>
          <p:cNvPr id="13" name="переход: Перейти: Постановка задачи" descr="Перейти: Постановка задачи">
            <a:hlinkClick r:id="rId3" tooltip="Перейти: Постановка задачи" action="ppaction://hlinksldjump"/>
          </p:cNvPr>
          <p:cNvPicPr>
            <a:picLocks noChangeAspect="1"/>
          </p:cNvPicPr>
          <p:nvPr/>
        </p:nvPicPr>
        <p:blipFill>
          <a:blip r:embed="rId2"/>
          <a:stretch>
            <a:fillRect/>
          </a:stretch>
        </p:blipFill>
        <p:spPr>
          <a:xfrm>
            <a:off x="457200" y="1143000"/>
            <a:ext cx="4023360" cy="493776"/>
          </a:xfrm>
          <a:prstGeom prst="rect">
            <a:avLst/>
          </a:prstGeom>
        </p:spPr>
      </p:pic>
      <p:sp>
        <p:nvSpPr>
          <p:cNvPr id="14" name="строка содержания 2"/>
          <p:cNvSpPr/>
          <p:nvPr/>
        </p:nvSpPr>
        <p:spPr>
          <a:xfrm>
            <a:off x="457200" y="1728216"/>
            <a:ext cx="4023360" cy="493776"/>
          </a:xfrm>
          <a:prstGeom prst="rect">
            <a:avLst/>
          </a:prstGeom>
          <a:solidFill>
            <a:srgbClr val="F3F6FA"/>
          </a:solidFill>
          <a:ln w="9525">
            <a:solidFill>
              <a:srgbClr val="D3DCE8"/>
            </a:solidFill>
            <a:prstDash val="solid"/>
          </a:ln>
        </p:spPr>
      </p:sp>
      <p:sp>
        <p:nvSpPr>
          <p:cNvPr id="15" name="номер пункта 2"/>
          <p:cNvSpPr/>
          <p:nvPr/>
        </p:nvSpPr>
        <p:spPr>
          <a:xfrm>
            <a:off x="457200" y="1728216"/>
            <a:ext cx="566928" cy="493776"/>
          </a:xfrm>
          <a:prstGeom prst="rect">
            <a:avLst/>
          </a:prstGeom>
          <a:solidFill>
            <a:srgbClr val="1F6FB2"/>
          </a:solidFill>
          <a:ln w="12700">
            <a:solidFill>
              <a:srgbClr val="1F6FB2"/>
            </a:solidFill>
            <a:prstDash val="solid"/>
          </a:ln>
        </p:spPr>
      </p:sp>
      <p:sp>
        <p:nvSpPr>
          <p:cNvPr id="16" name="номер 2"/>
          <p:cNvSpPr txBox="1"/>
          <p:nvPr/>
        </p:nvSpPr>
        <p:spPr>
          <a:xfrm>
            <a:off x="457200" y="1728216"/>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7" name="пункт 2"/>
          <p:cNvSpPr txBox="1"/>
          <p:nvPr/>
        </p:nvSpPr>
        <p:spPr>
          <a:xfrm>
            <a:off x="1188720" y="1728216"/>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Структура системы</a:t>
            </a:r>
            <a:endParaRPr lang="en-US" sz="1500" dirty="0"/>
          </a:p>
        </p:txBody>
      </p:sp>
      <p:sp>
        <p:nvSpPr>
          <p:cNvPr id="18" name="страница 2"/>
          <p:cNvSpPr txBox="1"/>
          <p:nvPr/>
        </p:nvSpPr>
        <p:spPr>
          <a:xfrm>
            <a:off x="3703320" y="1728216"/>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4</a:t>
            </a:r>
            <a:endParaRPr lang="en-US" sz="1000" dirty="0"/>
          </a:p>
        </p:txBody>
      </p:sp>
      <p:pic>
        <p:nvPicPr>
          <p:cNvPr id="19" name="переход: Перейти: Структура системы" descr="Перейти: Структура системы">
            <a:hlinkClick r:id="rId5" tooltip="Перейти: Структура системы" action="ppaction://hlinksldjump"/>
          </p:cNvPr>
          <p:cNvPicPr>
            <a:picLocks noChangeAspect="1"/>
          </p:cNvPicPr>
          <p:nvPr/>
        </p:nvPicPr>
        <p:blipFill>
          <a:blip r:embed="rId4"/>
          <a:stretch>
            <a:fillRect/>
          </a:stretch>
        </p:blipFill>
        <p:spPr>
          <a:xfrm>
            <a:off x="457200" y="1728216"/>
            <a:ext cx="4023360" cy="493776"/>
          </a:xfrm>
          <a:prstGeom prst="rect">
            <a:avLst/>
          </a:prstGeom>
        </p:spPr>
      </p:pic>
      <p:sp>
        <p:nvSpPr>
          <p:cNvPr id="20" name="строка содержания 3"/>
          <p:cNvSpPr/>
          <p:nvPr/>
        </p:nvSpPr>
        <p:spPr>
          <a:xfrm>
            <a:off x="457200" y="2313432"/>
            <a:ext cx="4023360" cy="493776"/>
          </a:xfrm>
          <a:prstGeom prst="rect">
            <a:avLst/>
          </a:prstGeom>
          <a:solidFill>
            <a:srgbClr val="F3F6FA"/>
          </a:solidFill>
          <a:ln w="9525">
            <a:solidFill>
              <a:srgbClr val="D3DCE8"/>
            </a:solidFill>
            <a:prstDash val="solid"/>
          </a:ln>
        </p:spPr>
      </p:sp>
      <p:sp>
        <p:nvSpPr>
          <p:cNvPr id="21" name="номер пункта 3"/>
          <p:cNvSpPr/>
          <p:nvPr/>
        </p:nvSpPr>
        <p:spPr>
          <a:xfrm>
            <a:off x="457200" y="2313432"/>
            <a:ext cx="566928" cy="493776"/>
          </a:xfrm>
          <a:prstGeom prst="rect">
            <a:avLst/>
          </a:prstGeom>
          <a:solidFill>
            <a:srgbClr val="1F6FB2"/>
          </a:solidFill>
          <a:ln w="12700">
            <a:solidFill>
              <a:srgbClr val="1F6FB2"/>
            </a:solidFill>
            <a:prstDash val="solid"/>
          </a:ln>
        </p:spPr>
      </p:sp>
      <p:sp>
        <p:nvSpPr>
          <p:cNvPr id="22" name="номер 3"/>
          <p:cNvSpPr txBox="1"/>
          <p:nvPr/>
        </p:nvSpPr>
        <p:spPr>
          <a:xfrm>
            <a:off x="457200" y="2313432"/>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23" name="пункт 3"/>
          <p:cNvSpPr txBox="1"/>
          <p:nvPr/>
        </p:nvSpPr>
        <p:spPr>
          <a:xfrm>
            <a:off x="1188720" y="2313432"/>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Алгоритм работы</a:t>
            </a:r>
            <a:endParaRPr lang="en-US" sz="1500" dirty="0"/>
          </a:p>
        </p:txBody>
      </p:sp>
      <p:sp>
        <p:nvSpPr>
          <p:cNvPr id="24" name="страница 3"/>
          <p:cNvSpPr txBox="1"/>
          <p:nvPr/>
        </p:nvSpPr>
        <p:spPr>
          <a:xfrm>
            <a:off x="3703320" y="2313432"/>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5</a:t>
            </a:r>
            <a:endParaRPr lang="en-US" sz="1000" dirty="0"/>
          </a:p>
        </p:txBody>
      </p:sp>
      <p:pic>
        <p:nvPicPr>
          <p:cNvPr id="25" name="переход: Перейти: Алгоритм работы" descr="Перейти: Алгоритм работы">
            <a:hlinkClick r:id="rId7" tooltip="Перейти: Алгоритм работы" action="ppaction://hlinksldjump"/>
          </p:cNvPr>
          <p:cNvPicPr>
            <a:picLocks noChangeAspect="1"/>
          </p:cNvPicPr>
          <p:nvPr/>
        </p:nvPicPr>
        <p:blipFill>
          <a:blip r:embed="rId6"/>
          <a:stretch>
            <a:fillRect/>
          </a:stretch>
        </p:blipFill>
        <p:spPr>
          <a:xfrm>
            <a:off x="457200" y="2313432"/>
            <a:ext cx="4023360" cy="493776"/>
          </a:xfrm>
          <a:prstGeom prst="rect">
            <a:avLst/>
          </a:prstGeom>
        </p:spPr>
      </p:pic>
      <p:sp>
        <p:nvSpPr>
          <p:cNvPr id="26" name="строка содержания 4"/>
          <p:cNvSpPr/>
          <p:nvPr/>
        </p:nvSpPr>
        <p:spPr>
          <a:xfrm>
            <a:off x="457200" y="2898648"/>
            <a:ext cx="4023360" cy="493776"/>
          </a:xfrm>
          <a:prstGeom prst="rect">
            <a:avLst/>
          </a:prstGeom>
          <a:solidFill>
            <a:srgbClr val="F3F6FA"/>
          </a:solidFill>
          <a:ln w="9525">
            <a:solidFill>
              <a:srgbClr val="D3DCE8"/>
            </a:solidFill>
            <a:prstDash val="solid"/>
          </a:ln>
        </p:spPr>
      </p:sp>
      <p:sp>
        <p:nvSpPr>
          <p:cNvPr id="27" name="номер пункта 4"/>
          <p:cNvSpPr/>
          <p:nvPr/>
        </p:nvSpPr>
        <p:spPr>
          <a:xfrm>
            <a:off x="457200" y="2898648"/>
            <a:ext cx="566928" cy="493776"/>
          </a:xfrm>
          <a:prstGeom prst="rect">
            <a:avLst/>
          </a:prstGeom>
          <a:solidFill>
            <a:srgbClr val="1F6FB2"/>
          </a:solidFill>
          <a:ln w="12700">
            <a:solidFill>
              <a:srgbClr val="1F6FB2"/>
            </a:solidFill>
            <a:prstDash val="solid"/>
          </a:ln>
        </p:spPr>
      </p:sp>
      <p:sp>
        <p:nvSpPr>
          <p:cNvPr id="28" name="номер 4"/>
          <p:cNvSpPr txBox="1"/>
          <p:nvPr/>
        </p:nvSpPr>
        <p:spPr>
          <a:xfrm>
            <a:off x="457200" y="2898648"/>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29" name="пункт 4"/>
          <p:cNvSpPr txBox="1"/>
          <p:nvPr/>
        </p:nvSpPr>
        <p:spPr>
          <a:xfrm>
            <a:off x="1188720" y="2898648"/>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Аппаратная часть</a:t>
            </a:r>
            <a:endParaRPr lang="en-US" sz="1500" dirty="0"/>
          </a:p>
        </p:txBody>
      </p:sp>
      <p:sp>
        <p:nvSpPr>
          <p:cNvPr id="30" name="страница 4"/>
          <p:cNvSpPr txBox="1"/>
          <p:nvPr/>
        </p:nvSpPr>
        <p:spPr>
          <a:xfrm>
            <a:off x="3703320" y="2898648"/>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6</a:t>
            </a:r>
            <a:endParaRPr lang="en-US" sz="1000" dirty="0"/>
          </a:p>
        </p:txBody>
      </p:sp>
      <p:pic>
        <p:nvPicPr>
          <p:cNvPr id="31" name="переход: Перейти: Аппаратная часть" descr="Перейти: Аппаратная часть">
            <a:hlinkClick r:id="rId9" tooltip="Перейти: Аппаратная часть" action="ppaction://hlinksldjump"/>
          </p:cNvPr>
          <p:cNvPicPr>
            <a:picLocks noChangeAspect="1"/>
          </p:cNvPicPr>
          <p:nvPr/>
        </p:nvPicPr>
        <p:blipFill>
          <a:blip r:embed="rId8"/>
          <a:stretch>
            <a:fillRect/>
          </a:stretch>
        </p:blipFill>
        <p:spPr>
          <a:xfrm>
            <a:off x="457200" y="2898648"/>
            <a:ext cx="4023360" cy="493776"/>
          </a:xfrm>
          <a:prstGeom prst="rect">
            <a:avLst/>
          </a:prstGeom>
        </p:spPr>
      </p:pic>
      <p:sp>
        <p:nvSpPr>
          <p:cNvPr id="32" name="строка содержания 5"/>
          <p:cNvSpPr/>
          <p:nvPr/>
        </p:nvSpPr>
        <p:spPr>
          <a:xfrm>
            <a:off x="457200" y="3483864"/>
            <a:ext cx="4023360" cy="493776"/>
          </a:xfrm>
          <a:prstGeom prst="rect">
            <a:avLst/>
          </a:prstGeom>
          <a:solidFill>
            <a:srgbClr val="F3F6FA"/>
          </a:solidFill>
          <a:ln w="9525">
            <a:solidFill>
              <a:srgbClr val="D3DCE8"/>
            </a:solidFill>
            <a:prstDash val="solid"/>
          </a:ln>
        </p:spPr>
      </p:sp>
      <p:sp>
        <p:nvSpPr>
          <p:cNvPr id="33" name="номер пункта 5"/>
          <p:cNvSpPr/>
          <p:nvPr/>
        </p:nvSpPr>
        <p:spPr>
          <a:xfrm>
            <a:off x="457200" y="3483864"/>
            <a:ext cx="566928" cy="493776"/>
          </a:xfrm>
          <a:prstGeom prst="rect">
            <a:avLst/>
          </a:prstGeom>
          <a:solidFill>
            <a:srgbClr val="1F6FB2"/>
          </a:solidFill>
          <a:ln w="12700">
            <a:solidFill>
              <a:srgbClr val="1F6FB2"/>
            </a:solidFill>
            <a:prstDash val="solid"/>
          </a:ln>
        </p:spPr>
      </p:sp>
      <p:sp>
        <p:nvSpPr>
          <p:cNvPr id="34" name="номер 5"/>
          <p:cNvSpPr txBox="1"/>
          <p:nvPr/>
        </p:nvSpPr>
        <p:spPr>
          <a:xfrm>
            <a:off x="457200" y="3483864"/>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05</a:t>
            </a:r>
            <a:endParaRPr lang="en-US" sz="1600" dirty="0"/>
          </a:p>
        </p:txBody>
      </p:sp>
      <p:sp>
        <p:nvSpPr>
          <p:cNvPr id="35" name="пункт 5"/>
          <p:cNvSpPr txBox="1"/>
          <p:nvPr/>
        </p:nvSpPr>
        <p:spPr>
          <a:xfrm>
            <a:off x="1188720" y="3483864"/>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Модель в Wokwi</a:t>
            </a:r>
            <a:endParaRPr lang="en-US" sz="1500" dirty="0"/>
          </a:p>
        </p:txBody>
      </p:sp>
      <p:sp>
        <p:nvSpPr>
          <p:cNvPr id="36" name="страница 5"/>
          <p:cNvSpPr txBox="1"/>
          <p:nvPr/>
        </p:nvSpPr>
        <p:spPr>
          <a:xfrm>
            <a:off x="3703320" y="3483864"/>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7</a:t>
            </a:r>
            <a:endParaRPr lang="en-US" sz="1000" dirty="0"/>
          </a:p>
        </p:txBody>
      </p:sp>
      <p:pic>
        <p:nvPicPr>
          <p:cNvPr id="37" name="переход: Перейти: Модель в Wokwi" descr="Перейти: Модель в Wokwi">
            <a:hlinkClick r:id="rId11" tooltip="Перейти: Модель в Wokwi" action="ppaction://hlinksldjump"/>
          </p:cNvPr>
          <p:cNvPicPr>
            <a:picLocks noChangeAspect="1"/>
          </p:cNvPicPr>
          <p:nvPr/>
        </p:nvPicPr>
        <p:blipFill>
          <a:blip r:embed="rId10"/>
          <a:stretch>
            <a:fillRect/>
          </a:stretch>
        </p:blipFill>
        <p:spPr>
          <a:xfrm>
            <a:off x="457200" y="3483864"/>
            <a:ext cx="4023360" cy="493776"/>
          </a:xfrm>
          <a:prstGeom prst="rect">
            <a:avLst/>
          </a:prstGeom>
        </p:spPr>
      </p:pic>
      <p:sp>
        <p:nvSpPr>
          <p:cNvPr id="38" name="строка содержания 6"/>
          <p:cNvSpPr/>
          <p:nvPr/>
        </p:nvSpPr>
        <p:spPr>
          <a:xfrm>
            <a:off x="457200" y="4069080"/>
            <a:ext cx="4023360" cy="493776"/>
          </a:xfrm>
          <a:prstGeom prst="rect">
            <a:avLst/>
          </a:prstGeom>
          <a:solidFill>
            <a:srgbClr val="F3F6FA"/>
          </a:solidFill>
          <a:ln w="9525">
            <a:solidFill>
              <a:srgbClr val="D3DCE8"/>
            </a:solidFill>
            <a:prstDash val="solid"/>
          </a:ln>
        </p:spPr>
      </p:sp>
      <p:sp>
        <p:nvSpPr>
          <p:cNvPr id="39" name="номер пункта 6"/>
          <p:cNvSpPr/>
          <p:nvPr/>
        </p:nvSpPr>
        <p:spPr>
          <a:xfrm>
            <a:off x="457200" y="4069080"/>
            <a:ext cx="566928" cy="493776"/>
          </a:xfrm>
          <a:prstGeom prst="rect">
            <a:avLst/>
          </a:prstGeom>
          <a:solidFill>
            <a:srgbClr val="1F6FB2"/>
          </a:solidFill>
          <a:ln w="12700">
            <a:solidFill>
              <a:srgbClr val="1F6FB2"/>
            </a:solidFill>
            <a:prstDash val="solid"/>
          </a:ln>
        </p:spPr>
      </p:sp>
      <p:sp>
        <p:nvSpPr>
          <p:cNvPr id="40" name="номер 6"/>
          <p:cNvSpPr txBox="1"/>
          <p:nvPr/>
        </p:nvSpPr>
        <p:spPr>
          <a:xfrm>
            <a:off x="457200" y="4069080"/>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06</a:t>
            </a:r>
            <a:endParaRPr lang="en-US" sz="1600" dirty="0"/>
          </a:p>
        </p:txBody>
      </p:sp>
      <p:sp>
        <p:nvSpPr>
          <p:cNvPr id="41" name="пункт 6"/>
          <p:cNvSpPr txBox="1"/>
          <p:nvPr/>
        </p:nvSpPr>
        <p:spPr>
          <a:xfrm>
            <a:off x="1188720" y="4069080"/>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Прошивка и протокол</a:t>
            </a:r>
            <a:endParaRPr lang="en-US" sz="1500" dirty="0"/>
          </a:p>
        </p:txBody>
      </p:sp>
      <p:sp>
        <p:nvSpPr>
          <p:cNvPr id="42" name="страница 6"/>
          <p:cNvSpPr txBox="1"/>
          <p:nvPr/>
        </p:nvSpPr>
        <p:spPr>
          <a:xfrm>
            <a:off x="3703320" y="4069080"/>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8</a:t>
            </a:r>
            <a:endParaRPr lang="en-US" sz="1000" dirty="0"/>
          </a:p>
        </p:txBody>
      </p:sp>
      <p:pic>
        <p:nvPicPr>
          <p:cNvPr id="43" name="переход: Перейти: Прошивка и протокол" descr="Перейти: Прошивка и протокол">
            <a:hlinkClick r:id="rId13" tooltip="Перейти: Прошивка и протокол" action="ppaction://hlinksldjump"/>
          </p:cNvPr>
          <p:cNvPicPr>
            <a:picLocks noChangeAspect="1"/>
          </p:cNvPicPr>
          <p:nvPr/>
        </p:nvPicPr>
        <p:blipFill>
          <a:blip r:embed="rId12"/>
          <a:stretch>
            <a:fillRect/>
          </a:stretch>
        </p:blipFill>
        <p:spPr>
          <a:xfrm>
            <a:off x="457200" y="4069080"/>
            <a:ext cx="4023360" cy="493776"/>
          </a:xfrm>
          <a:prstGeom prst="rect">
            <a:avLst/>
          </a:prstGeom>
        </p:spPr>
      </p:pic>
      <p:sp>
        <p:nvSpPr>
          <p:cNvPr id="44" name="строка содержания 7"/>
          <p:cNvSpPr/>
          <p:nvPr/>
        </p:nvSpPr>
        <p:spPr>
          <a:xfrm>
            <a:off x="4663440" y="1143000"/>
            <a:ext cx="4023360" cy="493776"/>
          </a:xfrm>
          <a:prstGeom prst="rect">
            <a:avLst/>
          </a:prstGeom>
          <a:solidFill>
            <a:srgbClr val="F3F6FA"/>
          </a:solidFill>
          <a:ln w="9525">
            <a:solidFill>
              <a:srgbClr val="D3DCE8"/>
            </a:solidFill>
            <a:prstDash val="solid"/>
          </a:ln>
        </p:spPr>
      </p:sp>
      <p:sp>
        <p:nvSpPr>
          <p:cNvPr id="45" name="номер пункта 7"/>
          <p:cNvSpPr/>
          <p:nvPr/>
        </p:nvSpPr>
        <p:spPr>
          <a:xfrm>
            <a:off x="4663440" y="1143000"/>
            <a:ext cx="566928" cy="493776"/>
          </a:xfrm>
          <a:prstGeom prst="rect">
            <a:avLst/>
          </a:prstGeom>
          <a:solidFill>
            <a:srgbClr val="1F6FB2"/>
          </a:solidFill>
          <a:ln w="12700">
            <a:solidFill>
              <a:srgbClr val="1F6FB2"/>
            </a:solidFill>
            <a:prstDash val="solid"/>
          </a:ln>
        </p:spPr>
      </p:sp>
      <p:sp>
        <p:nvSpPr>
          <p:cNvPr id="46" name="номер 7"/>
          <p:cNvSpPr txBox="1"/>
          <p:nvPr/>
        </p:nvSpPr>
        <p:spPr>
          <a:xfrm>
            <a:off x="4663440" y="1143000"/>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07</a:t>
            </a:r>
            <a:endParaRPr lang="en-US" sz="1600" dirty="0"/>
          </a:p>
        </p:txBody>
      </p:sp>
      <p:sp>
        <p:nvSpPr>
          <p:cNvPr id="47" name="пункт 7"/>
          <p:cNvSpPr txBox="1"/>
          <p:nvPr/>
        </p:nvSpPr>
        <p:spPr>
          <a:xfrm>
            <a:off x="5394960" y="1143000"/>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База данных SQLite</a:t>
            </a:r>
            <a:endParaRPr lang="en-US" sz="1500" dirty="0"/>
          </a:p>
        </p:txBody>
      </p:sp>
      <p:sp>
        <p:nvSpPr>
          <p:cNvPr id="48" name="страница 7"/>
          <p:cNvSpPr txBox="1"/>
          <p:nvPr/>
        </p:nvSpPr>
        <p:spPr>
          <a:xfrm>
            <a:off x="7909560" y="1143000"/>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9</a:t>
            </a:r>
            <a:endParaRPr lang="en-US" sz="1000" dirty="0"/>
          </a:p>
        </p:txBody>
      </p:sp>
      <p:pic>
        <p:nvPicPr>
          <p:cNvPr id="49" name="переход: Перейти: База данных SQLite" descr="Перейти: База данных SQLite">
            <a:hlinkClick r:id="rId15" tooltip="Перейти: База данных SQLite" action="ppaction://hlinksldjump"/>
          </p:cNvPr>
          <p:cNvPicPr>
            <a:picLocks noChangeAspect="1"/>
          </p:cNvPicPr>
          <p:nvPr/>
        </p:nvPicPr>
        <p:blipFill>
          <a:blip r:embed="rId14"/>
          <a:stretch>
            <a:fillRect/>
          </a:stretch>
        </p:blipFill>
        <p:spPr>
          <a:xfrm>
            <a:off x="4663440" y="1143000"/>
            <a:ext cx="4023360" cy="493776"/>
          </a:xfrm>
          <a:prstGeom prst="rect">
            <a:avLst/>
          </a:prstGeom>
        </p:spPr>
      </p:pic>
      <p:sp>
        <p:nvSpPr>
          <p:cNvPr id="50" name="строка содержания 8"/>
          <p:cNvSpPr/>
          <p:nvPr/>
        </p:nvSpPr>
        <p:spPr>
          <a:xfrm>
            <a:off x="4663440" y="1728216"/>
            <a:ext cx="4023360" cy="493776"/>
          </a:xfrm>
          <a:prstGeom prst="rect">
            <a:avLst/>
          </a:prstGeom>
          <a:solidFill>
            <a:srgbClr val="F3F6FA"/>
          </a:solidFill>
          <a:ln w="9525">
            <a:solidFill>
              <a:srgbClr val="D3DCE8"/>
            </a:solidFill>
            <a:prstDash val="solid"/>
          </a:ln>
        </p:spPr>
      </p:sp>
      <p:sp>
        <p:nvSpPr>
          <p:cNvPr id="51" name="номер пункта 8"/>
          <p:cNvSpPr/>
          <p:nvPr/>
        </p:nvSpPr>
        <p:spPr>
          <a:xfrm>
            <a:off x="4663440" y="1728216"/>
            <a:ext cx="566928" cy="493776"/>
          </a:xfrm>
          <a:prstGeom prst="rect">
            <a:avLst/>
          </a:prstGeom>
          <a:solidFill>
            <a:srgbClr val="1F6FB2"/>
          </a:solidFill>
          <a:ln w="12700">
            <a:solidFill>
              <a:srgbClr val="1F6FB2"/>
            </a:solidFill>
            <a:prstDash val="solid"/>
          </a:ln>
        </p:spPr>
      </p:sp>
      <p:sp>
        <p:nvSpPr>
          <p:cNvPr id="52" name="номер 8"/>
          <p:cNvSpPr txBox="1"/>
          <p:nvPr/>
        </p:nvSpPr>
        <p:spPr>
          <a:xfrm>
            <a:off x="4663440" y="1728216"/>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08</a:t>
            </a:r>
            <a:endParaRPr lang="en-US" sz="1600" dirty="0"/>
          </a:p>
        </p:txBody>
      </p:sp>
      <p:sp>
        <p:nvSpPr>
          <p:cNvPr id="53" name="пункт 8"/>
          <p:cNvSpPr txBox="1"/>
          <p:nvPr/>
        </p:nvSpPr>
        <p:spPr>
          <a:xfrm>
            <a:off x="5394960" y="1728216"/>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Загрузка в Node-RED</a:t>
            </a:r>
            <a:endParaRPr lang="en-US" sz="1500" dirty="0"/>
          </a:p>
        </p:txBody>
      </p:sp>
      <p:sp>
        <p:nvSpPr>
          <p:cNvPr id="54" name="страница 8"/>
          <p:cNvSpPr txBox="1"/>
          <p:nvPr/>
        </p:nvSpPr>
        <p:spPr>
          <a:xfrm>
            <a:off x="7909560" y="1728216"/>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10</a:t>
            </a:r>
            <a:endParaRPr lang="en-US" sz="1000" dirty="0"/>
          </a:p>
        </p:txBody>
      </p:sp>
      <p:pic>
        <p:nvPicPr>
          <p:cNvPr id="55" name="переход: Перейти: Загрузка в Node-RED" descr="Перейти: Загрузка в Node-RED">
            <a:hlinkClick r:id="rId17" tooltip="Перейти: Загрузка в Node-RED" action="ppaction://hlinksldjump"/>
          </p:cNvPr>
          <p:cNvPicPr>
            <a:picLocks noChangeAspect="1"/>
          </p:cNvPicPr>
          <p:nvPr/>
        </p:nvPicPr>
        <p:blipFill>
          <a:blip r:embed="rId16"/>
          <a:stretch>
            <a:fillRect/>
          </a:stretch>
        </p:blipFill>
        <p:spPr>
          <a:xfrm>
            <a:off x="4663440" y="1728216"/>
            <a:ext cx="4023360" cy="493776"/>
          </a:xfrm>
          <a:prstGeom prst="rect">
            <a:avLst/>
          </a:prstGeom>
        </p:spPr>
      </p:pic>
      <p:sp>
        <p:nvSpPr>
          <p:cNvPr id="56" name="строка содержания 9"/>
          <p:cNvSpPr/>
          <p:nvPr/>
        </p:nvSpPr>
        <p:spPr>
          <a:xfrm>
            <a:off x="4663440" y="2313432"/>
            <a:ext cx="4023360" cy="493776"/>
          </a:xfrm>
          <a:prstGeom prst="rect">
            <a:avLst/>
          </a:prstGeom>
          <a:solidFill>
            <a:srgbClr val="F3F6FA"/>
          </a:solidFill>
          <a:ln w="9525">
            <a:solidFill>
              <a:srgbClr val="D3DCE8"/>
            </a:solidFill>
            <a:prstDash val="solid"/>
          </a:ln>
        </p:spPr>
      </p:sp>
      <p:sp>
        <p:nvSpPr>
          <p:cNvPr id="57" name="номер пункта 9"/>
          <p:cNvSpPr/>
          <p:nvPr/>
        </p:nvSpPr>
        <p:spPr>
          <a:xfrm>
            <a:off x="4663440" y="2313432"/>
            <a:ext cx="566928" cy="493776"/>
          </a:xfrm>
          <a:prstGeom prst="rect">
            <a:avLst/>
          </a:prstGeom>
          <a:solidFill>
            <a:srgbClr val="1F6FB2"/>
          </a:solidFill>
          <a:ln w="12700">
            <a:solidFill>
              <a:srgbClr val="1F6FB2"/>
            </a:solidFill>
            <a:prstDash val="solid"/>
          </a:ln>
        </p:spPr>
      </p:sp>
      <p:sp>
        <p:nvSpPr>
          <p:cNvPr id="58" name="номер 9"/>
          <p:cNvSpPr txBox="1"/>
          <p:nvPr/>
        </p:nvSpPr>
        <p:spPr>
          <a:xfrm>
            <a:off x="4663440" y="2313432"/>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09</a:t>
            </a:r>
            <a:endParaRPr lang="en-US" sz="1600" dirty="0"/>
          </a:p>
        </p:txBody>
      </p:sp>
      <p:sp>
        <p:nvSpPr>
          <p:cNvPr id="59" name="пункт 9"/>
          <p:cNvSpPr txBox="1"/>
          <p:nvPr/>
        </p:nvSpPr>
        <p:spPr>
          <a:xfrm>
            <a:off x="5394960" y="2313432"/>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Тестирование и результаты</a:t>
            </a:r>
            <a:endParaRPr lang="en-US" sz="1500" dirty="0"/>
          </a:p>
        </p:txBody>
      </p:sp>
      <p:sp>
        <p:nvSpPr>
          <p:cNvPr id="60" name="страница 9"/>
          <p:cNvSpPr txBox="1"/>
          <p:nvPr/>
        </p:nvSpPr>
        <p:spPr>
          <a:xfrm>
            <a:off x="7909560" y="2313432"/>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11</a:t>
            </a:r>
            <a:endParaRPr lang="en-US" sz="1000" dirty="0"/>
          </a:p>
        </p:txBody>
      </p:sp>
      <p:pic>
        <p:nvPicPr>
          <p:cNvPr id="61" name="переход: Перейти: Тестирование и результаты" descr="Перейти: Тестирование и результаты">
            <a:hlinkClick r:id="rId19" tooltip="Перейти: Тестирование и результаты" action="ppaction://hlinksldjump"/>
          </p:cNvPr>
          <p:cNvPicPr>
            <a:picLocks noChangeAspect="1"/>
          </p:cNvPicPr>
          <p:nvPr/>
        </p:nvPicPr>
        <p:blipFill>
          <a:blip r:embed="rId18"/>
          <a:stretch>
            <a:fillRect/>
          </a:stretch>
        </p:blipFill>
        <p:spPr>
          <a:xfrm>
            <a:off x="4663440" y="2313432"/>
            <a:ext cx="4023360" cy="493776"/>
          </a:xfrm>
          <a:prstGeom prst="rect">
            <a:avLst/>
          </a:prstGeom>
        </p:spPr>
      </p:pic>
      <p:sp>
        <p:nvSpPr>
          <p:cNvPr id="62" name="строка содержания 10"/>
          <p:cNvSpPr/>
          <p:nvPr/>
        </p:nvSpPr>
        <p:spPr>
          <a:xfrm>
            <a:off x="4663440" y="2898648"/>
            <a:ext cx="4023360" cy="493776"/>
          </a:xfrm>
          <a:prstGeom prst="rect">
            <a:avLst/>
          </a:prstGeom>
          <a:solidFill>
            <a:srgbClr val="F3F6FA"/>
          </a:solidFill>
          <a:ln w="9525">
            <a:solidFill>
              <a:srgbClr val="D3DCE8"/>
            </a:solidFill>
            <a:prstDash val="solid"/>
          </a:ln>
        </p:spPr>
      </p:sp>
      <p:sp>
        <p:nvSpPr>
          <p:cNvPr id="63" name="номер пункта 10"/>
          <p:cNvSpPr/>
          <p:nvPr/>
        </p:nvSpPr>
        <p:spPr>
          <a:xfrm>
            <a:off x="4663440" y="2898648"/>
            <a:ext cx="566928" cy="493776"/>
          </a:xfrm>
          <a:prstGeom prst="rect">
            <a:avLst/>
          </a:prstGeom>
          <a:solidFill>
            <a:srgbClr val="1F6FB2"/>
          </a:solidFill>
          <a:ln w="12700">
            <a:solidFill>
              <a:srgbClr val="1F6FB2"/>
            </a:solidFill>
            <a:prstDash val="solid"/>
          </a:ln>
        </p:spPr>
      </p:sp>
      <p:sp>
        <p:nvSpPr>
          <p:cNvPr id="64" name="номер 10"/>
          <p:cNvSpPr txBox="1"/>
          <p:nvPr/>
        </p:nvSpPr>
        <p:spPr>
          <a:xfrm>
            <a:off x="4663440" y="2898648"/>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65" name="пункт 10"/>
          <p:cNvSpPr txBox="1"/>
          <p:nvPr/>
        </p:nvSpPr>
        <p:spPr>
          <a:xfrm>
            <a:off x="5394960" y="2898648"/>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Объём данных и Git</a:t>
            </a:r>
            <a:endParaRPr lang="en-US" sz="1500" dirty="0"/>
          </a:p>
        </p:txBody>
      </p:sp>
      <p:sp>
        <p:nvSpPr>
          <p:cNvPr id="66" name="страница 10"/>
          <p:cNvSpPr txBox="1"/>
          <p:nvPr/>
        </p:nvSpPr>
        <p:spPr>
          <a:xfrm>
            <a:off x="7909560" y="2898648"/>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12</a:t>
            </a:r>
            <a:endParaRPr lang="en-US" sz="1000" dirty="0"/>
          </a:p>
        </p:txBody>
      </p:sp>
      <p:pic>
        <p:nvPicPr>
          <p:cNvPr id="67" name="переход: Перейти: Объём данных и Git" descr="Перейти: Объём данных и Git">
            <a:hlinkClick r:id="rId21" tooltip="Перейти: Объём данных и Git" action="ppaction://hlinksldjump"/>
          </p:cNvPr>
          <p:cNvPicPr>
            <a:picLocks noChangeAspect="1"/>
          </p:cNvPicPr>
          <p:nvPr/>
        </p:nvPicPr>
        <p:blipFill>
          <a:blip r:embed="rId20"/>
          <a:stretch>
            <a:fillRect/>
          </a:stretch>
        </p:blipFill>
        <p:spPr>
          <a:xfrm>
            <a:off x="4663440" y="2898648"/>
            <a:ext cx="4023360" cy="493776"/>
          </a:xfrm>
          <a:prstGeom prst="rect">
            <a:avLst/>
          </a:prstGeom>
        </p:spPr>
      </p:pic>
      <p:sp>
        <p:nvSpPr>
          <p:cNvPr id="68" name="строка содержания 11"/>
          <p:cNvSpPr/>
          <p:nvPr/>
        </p:nvSpPr>
        <p:spPr>
          <a:xfrm>
            <a:off x="4663440" y="3483864"/>
            <a:ext cx="4023360" cy="493776"/>
          </a:xfrm>
          <a:prstGeom prst="rect">
            <a:avLst/>
          </a:prstGeom>
          <a:solidFill>
            <a:srgbClr val="F3F6FA"/>
          </a:solidFill>
          <a:ln w="9525">
            <a:solidFill>
              <a:srgbClr val="D3DCE8"/>
            </a:solidFill>
            <a:prstDash val="solid"/>
          </a:ln>
        </p:spPr>
      </p:sp>
      <p:sp>
        <p:nvSpPr>
          <p:cNvPr id="69" name="номер пункта 11"/>
          <p:cNvSpPr/>
          <p:nvPr/>
        </p:nvSpPr>
        <p:spPr>
          <a:xfrm>
            <a:off x="4663440" y="3483864"/>
            <a:ext cx="566928" cy="493776"/>
          </a:xfrm>
          <a:prstGeom prst="rect">
            <a:avLst/>
          </a:prstGeom>
          <a:solidFill>
            <a:srgbClr val="1F6FB2"/>
          </a:solidFill>
          <a:ln w="12700">
            <a:solidFill>
              <a:srgbClr val="1F6FB2"/>
            </a:solidFill>
            <a:prstDash val="solid"/>
          </a:ln>
        </p:spPr>
      </p:sp>
      <p:sp>
        <p:nvSpPr>
          <p:cNvPr id="70" name="номер 11"/>
          <p:cNvSpPr txBox="1"/>
          <p:nvPr/>
        </p:nvSpPr>
        <p:spPr>
          <a:xfrm>
            <a:off x="4663440" y="3483864"/>
            <a:ext cx="566928"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71" name="пункт 11"/>
          <p:cNvSpPr txBox="1"/>
          <p:nvPr/>
        </p:nvSpPr>
        <p:spPr>
          <a:xfrm>
            <a:off x="5394960" y="3483864"/>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Выводы</a:t>
            </a:r>
            <a:endParaRPr lang="en-US" sz="1500" dirty="0"/>
          </a:p>
        </p:txBody>
      </p:sp>
      <p:sp>
        <p:nvSpPr>
          <p:cNvPr id="72" name="страница 11"/>
          <p:cNvSpPr txBox="1"/>
          <p:nvPr/>
        </p:nvSpPr>
        <p:spPr>
          <a:xfrm>
            <a:off x="7909560" y="3483864"/>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13</a:t>
            </a:r>
            <a:endParaRPr lang="en-US" sz="1000" dirty="0"/>
          </a:p>
        </p:txBody>
      </p:sp>
      <p:pic>
        <p:nvPicPr>
          <p:cNvPr id="73" name="переход: Перейти: Выводы" descr="Перейти: Выводы">
            <a:hlinkClick r:id="rId23" tooltip="Перейти: Выводы" action="ppaction://hlinksldjump"/>
          </p:cNvPr>
          <p:cNvPicPr>
            <a:picLocks noChangeAspect="1"/>
          </p:cNvPicPr>
          <p:nvPr/>
        </p:nvPicPr>
        <p:blipFill>
          <a:blip r:embed="rId22"/>
          <a:stretch>
            <a:fillRect/>
          </a:stretch>
        </p:blipFill>
        <p:spPr>
          <a:xfrm>
            <a:off x="4663440" y="3483864"/>
            <a:ext cx="4023360" cy="493776"/>
          </a:xfrm>
          <a:prstGeom prst="rect">
            <a:avLst/>
          </a:prstGeom>
        </p:spPr>
      </p:pic>
      <p:sp>
        <p:nvSpPr>
          <p:cNvPr id="74" name="строка содержания 12"/>
          <p:cNvSpPr/>
          <p:nvPr/>
        </p:nvSpPr>
        <p:spPr>
          <a:xfrm>
            <a:off x="4663440" y="4069080"/>
            <a:ext cx="4023360" cy="493776"/>
          </a:xfrm>
          <a:prstGeom prst="rect">
            <a:avLst/>
          </a:prstGeom>
          <a:solidFill>
            <a:srgbClr val="F3F6FA"/>
          </a:solidFill>
          <a:ln w="9525">
            <a:solidFill>
              <a:srgbClr val="D3DCE8"/>
            </a:solidFill>
            <a:prstDash val="solid"/>
          </a:ln>
        </p:spPr>
      </p:sp>
      <p:sp>
        <p:nvSpPr>
          <p:cNvPr id="75" name="номер пункта 12"/>
          <p:cNvSpPr/>
          <p:nvPr/>
        </p:nvSpPr>
        <p:spPr>
          <a:xfrm>
            <a:off x="4663440" y="4069080"/>
            <a:ext cx="566928" cy="493776"/>
          </a:xfrm>
          <a:prstGeom prst="rect">
            <a:avLst/>
          </a:prstGeom>
          <a:solidFill>
            <a:srgbClr val="C9A227"/>
          </a:solidFill>
          <a:ln w="12700">
            <a:solidFill>
              <a:srgbClr val="1F6FB2"/>
            </a:solidFill>
            <a:prstDash val="solid"/>
          </a:ln>
        </p:spPr>
      </p:sp>
      <p:sp>
        <p:nvSpPr>
          <p:cNvPr id="76" name="номер 12"/>
          <p:cNvSpPr txBox="1"/>
          <p:nvPr/>
        </p:nvSpPr>
        <p:spPr>
          <a:xfrm>
            <a:off x="4663440" y="4069080"/>
            <a:ext cx="566928" cy="493776"/>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12</a:t>
            </a:r>
            <a:endParaRPr lang="en-US" sz="1600" dirty="0"/>
          </a:p>
        </p:txBody>
      </p:sp>
      <p:sp>
        <p:nvSpPr>
          <p:cNvPr id="77" name="пункт 12"/>
          <p:cNvSpPr txBox="1"/>
          <p:nvPr/>
        </p:nvSpPr>
        <p:spPr>
          <a:xfrm>
            <a:off x="5394960" y="4069080"/>
            <a:ext cx="2651760" cy="493776"/>
          </a:xfrm>
          <a:prstGeom prst="rect">
            <a:avLst/>
          </a:prstGeom>
          <a:noFill/>
          <a:ln/>
        </p:spPr>
        <p:txBody>
          <a:bodyPr wrap="square" lIns="0" tIns="0" rIns="0" bIns="0" rtlCol="0" anchor="ctr"/>
          <a:lstStyle/>
          <a:p>
            <a:pPr indent="0" marL="0">
              <a:buNone/>
            </a:pPr>
            <a:r>
              <a:rPr lang="en-US" sz="1500" b="1" dirty="0">
                <a:solidFill>
                  <a:srgbClr val="0F2747"/>
                </a:solidFill>
              </a:rPr>
              <a:t>Репозиторий проекта</a:t>
            </a:r>
            <a:endParaRPr lang="en-US" sz="1500" dirty="0"/>
          </a:p>
        </p:txBody>
      </p:sp>
      <p:sp>
        <p:nvSpPr>
          <p:cNvPr id="78" name="страница 12"/>
          <p:cNvSpPr txBox="1"/>
          <p:nvPr/>
        </p:nvSpPr>
        <p:spPr>
          <a:xfrm>
            <a:off x="7909560" y="4069080"/>
            <a:ext cx="685800" cy="493776"/>
          </a:xfrm>
          <a:prstGeom prst="rect">
            <a:avLst/>
          </a:prstGeom>
          <a:noFill/>
          <a:ln/>
        </p:spPr>
        <p:txBody>
          <a:bodyPr wrap="square" lIns="0" tIns="0" rIns="0" bIns="0" rtlCol="0" anchor="ctr"/>
          <a:lstStyle/>
          <a:p>
            <a:pPr algn="r" indent="0" marL="0">
              <a:buNone/>
            </a:pPr>
            <a:r>
              <a:rPr lang="en-US" sz="1000" dirty="0">
                <a:solidFill>
                  <a:srgbClr val="6B778A"/>
                </a:solidFill>
              </a:rPr>
              <a:t>слайд 14</a:t>
            </a:r>
            <a:endParaRPr lang="en-US" sz="1000" dirty="0"/>
          </a:p>
        </p:txBody>
      </p:sp>
      <p:pic>
        <p:nvPicPr>
          <p:cNvPr id="79" name="переход: Перейти: Репозиторий проекта" descr="Перейти: Репозиторий проекта">
            <a:hlinkClick r:id="rId25" tooltip="Перейти: Репозиторий проекта" action="ppaction://hlinksldjump"/>
          </p:cNvPr>
          <p:cNvPicPr>
            <a:picLocks noChangeAspect="1"/>
          </p:cNvPicPr>
          <p:nvPr/>
        </p:nvPicPr>
        <p:blipFill>
          <a:blip r:embed="rId24"/>
          <a:stretch>
            <a:fillRect/>
          </a:stretch>
        </p:blipFill>
        <p:spPr>
          <a:xfrm>
            <a:off x="4663440" y="4069080"/>
            <a:ext cx="4023360" cy="493776"/>
          </a:xfrm>
          <a:prstGeom prst="rect">
            <a:avLst/>
          </a:prstGeom>
        </p:spPr>
      </p:pic>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03</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Цель и постановка задачи</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Введение</a:t>
            </a:r>
            <a:endParaRPr lang="en-US" sz="1000" dirty="0"/>
          </a:p>
        </p:txBody>
      </p:sp>
      <p:sp>
        <p:nvSpPr>
          <p:cNvPr id="8" name="цель"/>
          <p:cNvSpPr txBox="1"/>
          <p:nvPr/>
        </p:nvSpPr>
        <p:spPr>
          <a:xfrm>
            <a:off x="457200" y="1051560"/>
            <a:ext cx="8229600" cy="502920"/>
          </a:xfrm>
          <a:prstGeom prst="rect">
            <a:avLst/>
          </a:prstGeom>
          <a:noFill/>
          <a:ln/>
        </p:spPr>
        <p:txBody>
          <a:bodyPr wrap="square" lIns="0" tIns="0" rIns="0" bIns="0" rtlCol="0" anchor="ctr"/>
          <a:lstStyle/>
          <a:p>
            <a:pPr indent="0" marL="0">
              <a:buNone/>
            </a:pPr>
            <a:r>
              <a:rPr lang="en-US" sz="1500" dirty="0">
                <a:solidFill>
                  <a:srgbClr val="1B2433"/>
                </a:solidFill>
              </a:rPr>
              <a:t>Виртуальная система контролирует задымление, присутствие человека и влажность воздуха в санузле</a:t>
            </a:r>
            <a:endParaRPr lang="en-US" sz="1500" dirty="0"/>
          </a:p>
        </p:txBody>
      </p:sp>
      <p:sp>
        <p:nvSpPr>
          <p:cNvPr id="9" name="карточка s1 · MQ2"/>
          <p:cNvSpPr/>
          <p:nvPr/>
        </p:nvSpPr>
        <p:spPr>
          <a:xfrm>
            <a:off x="457200" y="1691640"/>
            <a:ext cx="3840480" cy="7315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0" name="акцент s1 · MQ2"/>
          <p:cNvSpPr/>
          <p:nvPr/>
        </p:nvSpPr>
        <p:spPr>
          <a:xfrm>
            <a:off x="457200" y="1691640"/>
            <a:ext cx="64008" cy="731520"/>
          </a:xfrm>
          <a:prstGeom prst="rect">
            <a:avLst/>
          </a:prstGeom>
          <a:solidFill>
            <a:srgbClr val="1F6FB2"/>
          </a:solidFill>
          <a:ln w="12700">
            <a:solidFill>
              <a:srgbClr val="1F6FB2"/>
            </a:solidFill>
            <a:prstDash val="solid"/>
          </a:ln>
        </p:spPr>
      </p:sp>
      <p:sp>
        <p:nvSpPr>
          <p:cNvPr id="11" name="текст s1 · MQ2"/>
          <p:cNvSpPr txBox="1"/>
          <p:nvPr/>
        </p:nvSpPr>
        <p:spPr>
          <a:xfrm>
            <a:off x="640080" y="1737360"/>
            <a:ext cx="3566160" cy="640080"/>
          </a:xfrm>
          <a:prstGeom prst="rect">
            <a:avLst/>
          </a:prstGeom>
          <a:noFill/>
          <a:ln/>
        </p:spPr>
        <p:txBody>
          <a:bodyPr wrap="square" lIns="0" tIns="0" rIns="0" bIns="0" rtlCol="0" anchor="ctr"/>
          <a:lstStyle/>
          <a:p>
            <a:pPr indent="0" marL="0">
              <a:buNone/>
            </a:pPr>
            <a:r>
              <a:rPr lang="en-US" sz="1600" b="1" dirty="0">
                <a:solidFill>
                  <a:srgbClr val="0F2747"/>
                </a:solidFill>
              </a:rPr>
              <a:t>s1 · MQ2</a:t>
            </a:r>
            <a:endParaRPr lang="en-US" sz="1600" dirty="0"/>
          </a:p>
          <a:p>
            <a:pPr indent="0" marL="0">
              <a:buNone/>
            </a:pPr>
            <a:r>
              <a:rPr lang="en-US" sz="1300" dirty="0">
                <a:solidFill>
                  <a:srgbClr val="1B2433"/>
                </a:solidFill>
              </a:rPr>
              <a:t>дым, 0–100 %, аналоговый вход A0</a:t>
            </a:r>
            <a:endParaRPr lang="en-US" sz="1600" dirty="0"/>
          </a:p>
        </p:txBody>
      </p:sp>
      <p:sp>
        <p:nvSpPr>
          <p:cNvPr id="12" name="карточка s2 · PIR"/>
          <p:cNvSpPr/>
          <p:nvPr/>
        </p:nvSpPr>
        <p:spPr>
          <a:xfrm>
            <a:off x="457200" y="2560320"/>
            <a:ext cx="3840480" cy="7315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3" name="акцент s2 · PIR"/>
          <p:cNvSpPr/>
          <p:nvPr/>
        </p:nvSpPr>
        <p:spPr>
          <a:xfrm>
            <a:off x="457200" y="2560320"/>
            <a:ext cx="64008" cy="731520"/>
          </a:xfrm>
          <a:prstGeom prst="rect">
            <a:avLst/>
          </a:prstGeom>
          <a:solidFill>
            <a:srgbClr val="1F6FB2"/>
          </a:solidFill>
          <a:ln w="12700">
            <a:solidFill>
              <a:srgbClr val="1F6FB2"/>
            </a:solidFill>
            <a:prstDash val="solid"/>
          </a:ln>
        </p:spPr>
      </p:sp>
      <p:sp>
        <p:nvSpPr>
          <p:cNvPr id="14" name="текст s2 · PIR"/>
          <p:cNvSpPr txBox="1"/>
          <p:nvPr/>
        </p:nvSpPr>
        <p:spPr>
          <a:xfrm>
            <a:off x="640080" y="2606040"/>
            <a:ext cx="3566160" cy="640080"/>
          </a:xfrm>
          <a:prstGeom prst="rect">
            <a:avLst/>
          </a:prstGeom>
          <a:noFill/>
          <a:ln/>
        </p:spPr>
        <p:txBody>
          <a:bodyPr wrap="square" lIns="0" tIns="0" rIns="0" bIns="0" rtlCol="0" anchor="ctr"/>
          <a:lstStyle/>
          <a:p>
            <a:pPr indent="0" marL="0">
              <a:buNone/>
            </a:pPr>
            <a:r>
              <a:rPr lang="en-US" sz="1600" b="1" dirty="0">
                <a:solidFill>
                  <a:srgbClr val="0F2747"/>
                </a:solidFill>
              </a:rPr>
              <a:t>s2 · PIR</a:t>
            </a:r>
            <a:endParaRPr lang="en-US" sz="1600" dirty="0"/>
          </a:p>
          <a:p>
            <a:pPr indent="0" marL="0">
              <a:buNone/>
            </a:pPr>
            <a:r>
              <a:rPr lang="en-US" sz="1300" dirty="0">
                <a:solidFill>
                  <a:srgbClr val="1B2433"/>
                </a:solidFill>
              </a:rPr>
              <a:t>присутствие, 0 / 1, вывод D2</a:t>
            </a:r>
            <a:endParaRPr lang="en-US" sz="1600" dirty="0"/>
          </a:p>
        </p:txBody>
      </p:sp>
      <p:sp>
        <p:nvSpPr>
          <p:cNvPr id="15" name="карточка s3 · DHT22"/>
          <p:cNvSpPr/>
          <p:nvPr/>
        </p:nvSpPr>
        <p:spPr>
          <a:xfrm>
            <a:off x="457200" y="3429000"/>
            <a:ext cx="3840480" cy="7315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6" name="акцент s3 · DHT22"/>
          <p:cNvSpPr/>
          <p:nvPr/>
        </p:nvSpPr>
        <p:spPr>
          <a:xfrm>
            <a:off x="457200" y="3429000"/>
            <a:ext cx="64008" cy="731520"/>
          </a:xfrm>
          <a:prstGeom prst="rect">
            <a:avLst/>
          </a:prstGeom>
          <a:solidFill>
            <a:srgbClr val="1F6FB2"/>
          </a:solidFill>
          <a:ln w="12700">
            <a:solidFill>
              <a:srgbClr val="1F6FB2"/>
            </a:solidFill>
            <a:prstDash val="solid"/>
          </a:ln>
        </p:spPr>
      </p:sp>
      <p:sp>
        <p:nvSpPr>
          <p:cNvPr id="17" name="текст s3 · DHT22"/>
          <p:cNvSpPr txBox="1"/>
          <p:nvPr/>
        </p:nvSpPr>
        <p:spPr>
          <a:xfrm>
            <a:off x="640080" y="3474720"/>
            <a:ext cx="3566160" cy="640080"/>
          </a:xfrm>
          <a:prstGeom prst="rect">
            <a:avLst/>
          </a:prstGeom>
          <a:noFill/>
          <a:ln/>
        </p:spPr>
        <p:txBody>
          <a:bodyPr wrap="square" lIns="0" tIns="0" rIns="0" bIns="0" rtlCol="0" anchor="ctr"/>
          <a:lstStyle/>
          <a:p>
            <a:pPr indent="0" marL="0">
              <a:buNone/>
            </a:pPr>
            <a:r>
              <a:rPr lang="en-US" sz="1600" b="1" dirty="0">
                <a:solidFill>
                  <a:srgbClr val="0F2747"/>
                </a:solidFill>
              </a:rPr>
              <a:t>s3 · DHT22</a:t>
            </a:r>
            <a:endParaRPr lang="en-US" sz="1600" dirty="0"/>
          </a:p>
          <a:p>
            <a:pPr indent="0" marL="0">
              <a:buNone/>
            </a:pPr>
            <a:r>
              <a:rPr lang="en-US" sz="1300" dirty="0">
                <a:solidFill>
                  <a:srgbClr val="1B2433"/>
                </a:solidFill>
              </a:rPr>
              <a:t>влажность, 0–100 %, вывод D3, обновляется раз в 2 с</a:t>
            </a:r>
            <a:endParaRPr lang="en-US" sz="1600" dirty="0"/>
          </a:p>
        </p:txBody>
      </p:sp>
      <p:sp>
        <p:nvSpPr>
          <p:cNvPr id="18" name="число период опроса датчиков"/>
          <p:cNvSpPr txBox="1"/>
          <p:nvPr/>
        </p:nvSpPr>
        <p:spPr>
          <a:xfrm>
            <a:off x="4572000" y="1691640"/>
            <a:ext cx="2011680" cy="731520"/>
          </a:xfrm>
          <a:prstGeom prst="rect">
            <a:avLst/>
          </a:prstGeom>
          <a:noFill/>
          <a:ln/>
        </p:spPr>
        <p:txBody>
          <a:bodyPr wrap="square" lIns="0" tIns="0" rIns="0" bIns="0" rtlCol="0" anchor="b"/>
          <a:lstStyle/>
          <a:p>
            <a:pPr indent="0" marL="0">
              <a:buNone/>
            </a:pPr>
            <a:r>
              <a:rPr lang="en-US" sz="4000" b="1" dirty="0">
                <a:solidFill>
                  <a:srgbClr val="1F6FB2"/>
                </a:solidFill>
                <a:latin typeface="Cambria" pitchFamily="34" charset="0"/>
                <a:ea typeface="Cambria" pitchFamily="34" charset="-122"/>
                <a:cs typeface="Cambria" pitchFamily="34" charset="-120"/>
              </a:rPr>
              <a:t>T = 1 с</a:t>
            </a:r>
            <a:endParaRPr lang="en-US" sz="4000" dirty="0"/>
          </a:p>
        </p:txBody>
      </p:sp>
      <p:sp>
        <p:nvSpPr>
          <p:cNvPr id="19" name="подпись период опроса датчиков"/>
          <p:cNvSpPr txBox="1"/>
          <p:nvPr/>
        </p:nvSpPr>
        <p:spPr>
          <a:xfrm>
            <a:off x="4572000" y="2441448"/>
            <a:ext cx="2011680" cy="411480"/>
          </a:xfrm>
          <a:prstGeom prst="rect">
            <a:avLst/>
          </a:prstGeom>
          <a:noFill/>
          <a:ln/>
        </p:spPr>
        <p:txBody>
          <a:bodyPr wrap="square" lIns="0" tIns="0" rIns="0" bIns="0" rtlCol="0" anchor="t"/>
          <a:lstStyle/>
          <a:p>
            <a:pPr indent="0" marL="0">
              <a:buNone/>
            </a:pPr>
            <a:r>
              <a:rPr lang="en-US" sz="1300" dirty="0">
                <a:solidFill>
                  <a:srgbClr val="1B2433"/>
                </a:solidFill>
              </a:rPr>
              <a:t>период опроса датчиков</a:t>
            </a:r>
            <a:endParaRPr lang="en-US" sz="1300" dirty="0"/>
          </a:p>
        </p:txBody>
      </p:sp>
      <p:sp>
        <p:nvSpPr>
          <p:cNvPr id="20" name="число порог по дыму"/>
          <p:cNvSpPr txBox="1"/>
          <p:nvPr/>
        </p:nvSpPr>
        <p:spPr>
          <a:xfrm>
            <a:off x="6675120" y="1691640"/>
            <a:ext cx="2011680" cy="731520"/>
          </a:xfrm>
          <a:prstGeom prst="rect">
            <a:avLst/>
          </a:prstGeom>
          <a:noFill/>
          <a:ln/>
        </p:spPr>
        <p:txBody>
          <a:bodyPr wrap="square" lIns="0" tIns="0" rIns="0" bIns="0" rtlCol="0" anchor="b"/>
          <a:lstStyle/>
          <a:p>
            <a:pPr indent="0" marL="0">
              <a:buNone/>
            </a:pPr>
            <a:r>
              <a:rPr lang="en-US" sz="4000" b="1" dirty="0">
                <a:solidFill>
                  <a:srgbClr val="C9372C"/>
                </a:solidFill>
                <a:latin typeface="Cambria" pitchFamily="34" charset="0"/>
                <a:ea typeface="Cambria" pitchFamily="34" charset="-122"/>
                <a:cs typeface="Cambria" pitchFamily="34" charset="-120"/>
              </a:rPr>
              <a:t>&gt; 25 %</a:t>
            </a:r>
            <a:endParaRPr lang="en-US" sz="4000" dirty="0"/>
          </a:p>
        </p:txBody>
      </p:sp>
      <p:sp>
        <p:nvSpPr>
          <p:cNvPr id="21" name="подпись порог по дыму"/>
          <p:cNvSpPr txBox="1"/>
          <p:nvPr/>
        </p:nvSpPr>
        <p:spPr>
          <a:xfrm>
            <a:off x="6675120" y="2441448"/>
            <a:ext cx="2011680" cy="411480"/>
          </a:xfrm>
          <a:prstGeom prst="rect">
            <a:avLst/>
          </a:prstGeom>
          <a:noFill/>
          <a:ln/>
        </p:spPr>
        <p:txBody>
          <a:bodyPr wrap="square" lIns="0" tIns="0" rIns="0" bIns="0" rtlCol="0" anchor="t"/>
          <a:lstStyle/>
          <a:p>
            <a:pPr indent="0" marL="0">
              <a:buNone/>
            </a:pPr>
            <a:r>
              <a:rPr lang="en-US" sz="1300" dirty="0">
                <a:solidFill>
                  <a:srgbClr val="1B2433"/>
                </a:solidFill>
              </a:rPr>
              <a:t>порог по дыму</a:t>
            </a:r>
            <a:endParaRPr lang="en-US" sz="1300" dirty="0"/>
          </a:p>
        </p:txBody>
      </p:sp>
      <p:sp>
        <p:nvSpPr>
          <p:cNvPr id="22" name="карточка Реакция системы"/>
          <p:cNvSpPr/>
          <p:nvPr/>
        </p:nvSpPr>
        <p:spPr>
          <a:xfrm>
            <a:off x="4572000" y="3108960"/>
            <a:ext cx="4114800" cy="128016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23" name="акцент Реакция системы"/>
          <p:cNvSpPr/>
          <p:nvPr/>
        </p:nvSpPr>
        <p:spPr>
          <a:xfrm>
            <a:off x="4572000" y="3108960"/>
            <a:ext cx="64008" cy="1280160"/>
          </a:xfrm>
          <a:prstGeom prst="rect">
            <a:avLst/>
          </a:prstGeom>
          <a:solidFill>
            <a:srgbClr val="C9A227"/>
          </a:solidFill>
          <a:ln w="12700">
            <a:solidFill>
              <a:srgbClr val="C9A227"/>
            </a:solidFill>
            <a:prstDash val="solid"/>
          </a:ln>
        </p:spPr>
      </p:sp>
      <p:sp>
        <p:nvSpPr>
          <p:cNvPr id="24" name="текст Реакция системы"/>
          <p:cNvSpPr txBox="1"/>
          <p:nvPr/>
        </p:nvSpPr>
        <p:spPr>
          <a:xfrm>
            <a:off x="4754880" y="3154680"/>
            <a:ext cx="3840480" cy="1188720"/>
          </a:xfrm>
          <a:prstGeom prst="rect">
            <a:avLst/>
          </a:prstGeom>
          <a:noFill/>
          <a:ln/>
        </p:spPr>
        <p:txBody>
          <a:bodyPr wrap="square" lIns="0" tIns="0" rIns="0" bIns="0" rtlCol="0" anchor="ctr"/>
          <a:lstStyle/>
          <a:p>
            <a:pPr indent="0" marL="0">
              <a:buNone/>
            </a:pPr>
            <a:r>
              <a:rPr lang="en-US" sz="1500" b="1" dirty="0">
                <a:solidFill>
                  <a:srgbClr val="C9A227"/>
                </a:solidFill>
              </a:rPr>
              <a:t>Реакция системы</a:t>
            </a:r>
            <a:endParaRPr lang="en-US" sz="1500" dirty="0"/>
          </a:p>
          <a:p>
            <a:pPr indent="0" marL="0">
              <a:buNone/>
            </a:pPr>
            <a:r>
              <a:rPr lang="en-US" sz="1300" dirty="0">
                <a:solidFill>
                  <a:srgbClr val="FFFFFF"/>
                </a:solidFill>
              </a:rPr>
              <a:t>Дым выше порога: реле вентилятора и красный светодиод включаются, событие THRESHOLD. Дым в норме: выключаются, событие NORMAL.</a:t>
            </a:r>
            <a:endParaRPr lang="en-US" sz="15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04</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Структура системы</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Схемы</a:t>
            </a:r>
            <a:endParaRPr lang="en-US" sz="1000" dirty="0"/>
          </a:p>
        </p:txBody>
      </p:sp>
      <p:sp>
        <p:nvSpPr>
          <p:cNvPr id="8" name="рамка структурная схема"/>
          <p:cNvSpPr/>
          <p:nvPr/>
        </p:nvSpPr>
        <p:spPr>
          <a:xfrm>
            <a:off x="1269419" y="1088136"/>
            <a:ext cx="6605162" cy="3218688"/>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9" name="структурная схема" descr="Структурная схема: три датчика, Arduino Uno, реле, светодиод, журнал, Node-RED и база SQLite">    </p:cNvPr>
          <p:cNvPicPr>
            <a:picLocks noChangeAspect="1"/>
          </p:cNvPicPr>
          <p:nvPr/>
        </p:nvPicPr>
        <p:blipFill>
          <a:blip r:embed="rId2"/>
          <a:stretch>
            <a:fillRect/>
          </a:stretch>
        </p:blipFill>
        <p:spPr>
          <a:xfrm>
            <a:off x="1324283" y="1143000"/>
            <a:ext cx="6495434" cy="3108960"/>
          </a:xfrm>
          <a:prstGeom prst="rect">
            <a:avLst/>
          </a:prstGeom>
        </p:spPr>
      </p:pic>
      <p:sp>
        <p:nvSpPr>
          <p:cNvPr id="10" name="примечание к схеме"/>
          <p:cNvSpPr txBox="1"/>
          <p:nvPr/>
        </p:nvSpPr>
        <p:spPr>
          <a:xfrm>
            <a:off x="457200" y="4343400"/>
            <a:ext cx="8229600" cy="320040"/>
          </a:xfrm>
          <a:prstGeom prst="rect">
            <a:avLst/>
          </a:prstGeom>
          <a:noFill/>
          <a:ln/>
        </p:spPr>
        <p:txBody>
          <a:bodyPr wrap="square" lIns="0" tIns="0" rIns="0" bIns="0" rtlCol="0" anchor="ctr"/>
          <a:lstStyle/>
          <a:p>
            <a:pPr algn="ctr" indent="0" marL="0">
              <a:buNone/>
            </a:pPr>
            <a:r>
              <a:rPr lang="en-US" sz="1200" i="1" dirty="0">
                <a:solidFill>
                  <a:srgbClr val="6B778A"/>
                </a:solidFill>
              </a:rPr>
              <a:t>Журнал из Wokwi сохраняется в data/log.txt, дальше загрузка в базу автоматическая</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05</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Алгоритм работы</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Схемы</a:t>
            </a:r>
            <a:endParaRPr lang="en-US" sz="1000" dirty="0"/>
          </a:p>
        </p:txBody>
      </p:sp>
      <p:sp>
        <p:nvSpPr>
          <p:cNvPr id="8" name="рамка алгоритм"/>
          <p:cNvSpPr/>
          <p:nvPr/>
        </p:nvSpPr>
        <p:spPr>
          <a:xfrm>
            <a:off x="493776" y="1081841"/>
            <a:ext cx="2944368" cy="3642758"/>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9" name="алгоритм" descr="Блок-схема алгоритма прошивки">    </p:cNvPr>
          <p:cNvPicPr>
            <a:picLocks noChangeAspect="1"/>
          </p:cNvPicPr>
          <p:nvPr/>
        </p:nvPicPr>
        <p:blipFill>
          <a:blip r:embed="rId2"/>
          <a:stretch>
            <a:fillRect/>
          </a:stretch>
        </p:blipFill>
        <p:spPr>
          <a:xfrm>
            <a:off x="548640" y="1136705"/>
            <a:ext cx="2834640" cy="3533030"/>
          </a:xfrm>
          <a:prstGeom prst="rect">
            <a:avLst/>
          </a:prstGeom>
        </p:spPr>
      </p:pic>
      <p:sp>
        <p:nvSpPr>
          <p:cNvPr id="10" name="карточка Опрос раз в секунду"/>
          <p:cNvSpPr/>
          <p:nvPr/>
        </p:nvSpPr>
        <p:spPr>
          <a:xfrm>
            <a:off x="3749040" y="1143000"/>
            <a:ext cx="4937760" cy="77724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1" name="акцент Опрос раз в секунду"/>
          <p:cNvSpPr/>
          <p:nvPr/>
        </p:nvSpPr>
        <p:spPr>
          <a:xfrm>
            <a:off x="3749040" y="1143000"/>
            <a:ext cx="64008" cy="777240"/>
          </a:xfrm>
          <a:prstGeom prst="rect">
            <a:avLst/>
          </a:prstGeom>
          <a:solidFill>
            <a:srgbClr val="1F6FB2"/>
          </a:solidFill>
          <a:ln w="12700">
            <a:solidFill>
              <a:srgbClr val="1F6FB2"/>
            </a:solidFill>
            <a:prstDash val="solid"/>
          </a:ln>
        </p:spPr>
      </p:sp>
      <p:sp>
        <p:nvSpPr>
          <p:cNvPr id="12" name="текст Опрос раз в секунду"/>
          <p:cNvSpPr txBox="1"/>
          <p:nvPr/>
        </p:nvSpPr>
        <p:spPr>
          <a:xfrm>
            <a:off x="3931920" y="1188720"/>
            <a:ext cx="4663440" cy="685800"/>
          </a:xfrm>
          <a:prstGeom prst="rect">
            <a:avLst/>
          </a:prstGeom>
          <a:noFill/>
          <a:ln/>
        </p:spPr>
        <p:txBody>
          <a:bodyPr wrap="square" lIns="0" tIns="0" rIns="0" bIns="0" rtlCol="0" anchor="ctr"/>
          <a:lstStyle/>
          <a:p>
            <a:pPr indent="0" marL="0">
              <a:buNone/>
            </a:pPr>
            <a:r>
              <a:rPr lang="en-US" sz="1500" b="1" dirty="0">
                <a:solidFill>
                  <a:srgbClr val="0F2747"/>
                </a:solidFill>
              </a:rPr>
              <a:t>Опрос раз в секунду</a:t>
            </a:r>
            <a:endParaRPr lang="en-US" sz="1500" dirty="0"/>
          </a:p>
          <a:p>
            <a:pPr indent="0" marL="0">
              <a:buNone/>
            </a:pPr>
            <a:r>
              <a:rPr lang="en-US" sz="1300" dirty="0">
                <a:solidFill>
                  <a:srgbClr val="1B2433"/>
                </a:solidFill>
              </a:rPr>
              <a:t>чтение s1, s2, s3 и передача строки DATA</a:t>
            </a:r>
            <a:endParaRPr lang="en-US" sz="1500" dirty="0"/>
          </a:p>
        </p:txBody>
      </p:sp>
      <p:sp>
        <p:nvSpPr>
          <p:cNvPr id="13" name="карточка Дым &gt; 25 %"/>
          <p:cNvSpPr/>
          <p:nvPr/>
        </p:nvSpPr>
        <p:spPr>
          <a:xfrm>
            <a:off x="3749040" y="2057400"/>
            <a:ext cx="4937760" cy="77724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4" name="акцент Дым &gt; 25 %"/>
          <p:cNvSpPr/>
          <p:nvPr/>
        </p:nvSpPr>
        <p:spPr>
          <a:xfrm>
            <a:off x="3749040" y="2057400"/>
            <a:ext cx="64008" cy="777240"/>
          </a:xfrm>
          <a:prstGeom prst="rect">
            <a:avLst/>
          </a:prstGeom>
          <a:solidFill>
            <a:srgbClr val="C9372C"/>
          </a:solidFill>
          <a:ln w="12700">
            <a:solidFill>
              <a:srgbClr val="C9372C"/>
            </a:solidFill>
            <a:prstDash val="solid"/>
          </a:ln>
        </p:spPr>
      </p:sp>
      <p:sp>
        <p:nvSpPr>
          <p:cNvPr id="15" name="текст Дым &gt; 25 %"/>
          <p:cNvSpPr txBox="1"/>
          <p:nvPr/>
        </p:nvSpPr>
        <p:spPr>
          <a:xfrm>
            <a:off x="3931920" y="2103120"/>
            <a:ext cx="4663440" cy="685800"/>
          </a:xfrm>
          <a:prstGeom prst="rect">
            <a:avLst/>
          </a:prstGeom>
          <a:noFill/>
          <a:ln/>
        </p:spPr>
        <p:txBody>
          <a:bodyPr wrap="square" lIns="0" tIns="0" rIns="0" bIns="0" rtlCol="0" anchor="ctr"/>
          <a:lstStyle/>
          <a:p>
            <a:pPr indent="0" marL="0">
              <a:buNone/>
            </a:pPr>
            <a:r>
              <a:rPr lang="en-US" sz="1500" b="1" dirty="0">
                <a:solidFill>
                  <a:srgbClr val="0F2747"/>
                </a:solidFill>
              </a:rPr>
              <a:t>Дым &gt; 25 %</a:t>
            </a:r>
            <a:endParaRPr lang="en-US" sz="1500" dirty="0"/>
          </a:p>
          <a:p>
            <a:pPr indent="0" marL="0">
              <a:buNone/>
            </a:pPr>
            <a:r>
              <a:rPr lang="en-US" sz="1300" dirty="0">
                <a:solidFill>
                  <a:srgbClr val="1B2433"/>
                </a:solidFill>
              </a:rPr>
              <a:t>реле и светодиод включены, событие THRESHOLD</a:t>
            </a:r>
            <a:endParaRPr lang="en-US" sz="1500" dirty="0"/>
          </a:p>
        </p:txBody>
      </p:sp>
      <p:sp>
        <p:nvSpPr>
          <p:cNvPr id="16" name="карточка Дым ≤ 25 %"/>
          <p:cNvSpPr/>
          <p:nvPr/>
        </p:nvSpPr>
        <p:spPr>
          <a:xfrm>
            <a:off x="3749040" y="2971800"/>
            <a:ext cx="4937760" cy="77724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7" name="акцент Дым ≤ 25 %"/>
          <p:cNvSpPr/>
          <p:nvPr/>
        </p:nvSpPr>
        <p:spPr>
          <a:xfrm>
            <a:off x="3749040" y="2971800"/>
            <a:ext cx="64008" cy="777240"/>
          </a:xfrm>
          <a:prstGeom prst="rect">
            <a:avLst/>
          </a:prstGeom>
          <a:solidFill>
            <a:srgbClr val="2E7D5B"/>
          </a:solidFill>
          <a:ln w="12700">
            <a:solidFill>
              <a:srgbClr val="2E7D5B"/>
            </a:solidFill>
            <a:prstDash val="solid"/>
          </a:ln>
        </p:spPr>
      </p:sp>
      <p:sp>
        <p:nvSpPr>
          <p:cNvPr id="18" name="текст Дым ≤ 25 %"/>
          <p:cNvSpPr txBox="1"/>
          <p:nvPr/>
        </p:nvSpPr>
        <p:spPr>
          <a:xfrm>
            <a:off x="3931920" y="3017520"/>
            <a:ext cx="4663440" cy="685800"/>
          </a:xfrm>
          <a:prstGeom prst="rect">
            <a:avLst/>
          </a:prstGeom>
          <a:noFill/>
          <a:ln/>
        </p:spPr>
        <p:txBody>
          <a:bodyPr wrap="square" lIns="0" tIns="0" rIns="0" bIns="0" rtlCol="0" anchor="ctr"/>
          <a:lstStyle/>
          <a:p>
            <a:pPr indent="0" marL="0">
              <a:buNone/>
            </a:pPr>
            <a:r>
              <a:rPr lang="en-US" sz="1500" b="1" dirty="0">
                <a:solidFill>
                  <a:srgbClr val="0F2747"/>
                </a:solidFill>
              </a:rPr>
              <a:t>Дым ≤ 25 %</a:t>
            </a:r>
            <a:endParaRPr lang="en-US" sz="1500" dirty="0"/>
          </a:p>
          <a:p>
            <a:pPr indent="0" marL="0">
              <a:buNone/>
            </a:pPr>
            <a:r>
              <a:rPr lang="en-US" sz="1300" dirty="0">
                <a:solidFill>
                  <a:srgbClr val="1B2433"/>
                </a:solidFill>
              </a:rPr>
              <a:t>реле и светодиод выключены, событие NORMAL</a:t>
            </a:r>
            <a:endParaRPr lang="en-US" sz="1500" dirty="0"/>
          </a:p>
        </p:txBody>
      </p:sp>
      <p:sp>
        <p:nvSpPr>
          <p:cNvPr id="19" name="карточка Флаг alarm"/>
          <p:cNvSpPr/>
          <p:nvPr/>
        </p:nvSpPr>
        <p:spPr>
          <a:xfrm>
            <a:off x="3749040" y="3886200"/>
            <a:ext cx="4937760" cy="73152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20" name="акцент Флаг alarm"/>
          <p:cNvSpPr/>
          <p:nvPr/>
        </p:nvSpPr>
        <p:spPr>
          <a:xfrm>
            <a:off x="3749040" y="3886200"/>
            <a:ext cx="64008" cy="731520"/>
          </a:xfrm>
          <a:prstGeom prst="rect">
            <a:avLst/>
          </a:prstGeom>
          <a:solidFill>
            <a:srgbClr val="C9A227"/>
          </a:solidFill>
          <a:ln w="12700">
            <a:solidFill>
              <a:srgbClr val="C9A227"/>
            </a:solidFill>
            <a:prstDash val="solid"/>
          </a:ln>
        </p:spPr>
      </p:sp>
      <p:sp>
        <p:nvSpPr>
          <p:cNvPr id="21" name="текст Флаг alarm"/>
          <p:cNvSpPr txBox="1"/>
          <p:nvPr/>
        </p:nvSpPr>
        <p:spPr>
          <a:xfrm>
            <a:off x="3931920" y="3931920"/>
            <a:ext cx="4663440" cy="640080"/>
          </a:xfrm>
          <a:prstGeom prst="rect">
            <a:avLst/>
          </a:prstGeom>
          <a:noFill/>
          <a:ln/>
        </p:spPr>
        <p:txBody>
          <a:bodyPr wrap="square" lIns="0" tIns="0" rIns="0" bIns="0" rtlCol="0" anchor="ctr"/>
          <a:lstStyle/>
          <a:p>
            <a:pPr indent="0" marL="0">
              <a:buNone/>
            </a:pPr>
            <a:r>
              <a:rPr lang="en-US" sz="1400" b="1" dirty="0">
                <a:solidFill>
                  <a:srgbClr val="C9A227"/>
                </a:solidFill>
              </a:rPr>
              <a:t>Флаг alarm</a:t>
            </a:r>
            <a:endParaRPr lang="en-US" sz="1400" dirty="0"/>
          </a:p>
          <a:p>
            <a:pPr indent="0" marL="0">
              <a:buNone/>
            </a:pPr>
            <a:r>
              <a:rPr lang="en-US" sz="1200" dirty="0">
                <a:solidFill>
                  <a:srgbClr val="FFFFFF"/>
                </a:solidFill>
              </a:rPr>
              <a:t>событие передаётся только при смене состояния</a:t>
            </a:r>
            <a:endParaRPr lang="en-US" sz="14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06</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Аппаратная часть</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Схемы</a:t>
            </a:r>
            <a:endParaRPr lang="en-US" sz="1000" dirty="0"/>
          </a:p>
        </p:txBody>
      </p:sp>
      <p:sp>
        <p:nvSpPr>
          <p:cNvPr id="8" name="рамка принципиальная схема"/>
          <p:cNvSpPr/>
          <p:nvPr/>
        </p:nvSpPr>
        <p:spPr>
          <a:xfrm>
            <a:off x="493776" y="1263776"/>
            <a:ext cx="4864608" cy="3233168"/>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9" name="принципиальная схема" descr="Принципиальная схема в рамке по ГОСТ">    </p:cNvPr>
          <p:cNvPicPr>
            <a:picLocks noChangeAspect="1"/>
          </p:cNvPicPr>
          <p:nvPr/>
        </p:nvPicPr>
        <p:blipFill>
          <a:blip r:embed="rId2"/>
          <a:stretch>
            <a:fillRect/>
          </a:stretch>
        </p:blipFill>
        <p:spPr>
          <a:xfrm>
            <a:off x="548640" y="1318640"/>
            <a:ext cx="4754880" cy="3123440"/>
          </a:xfrm>
          <a:prstGeom prst="rect">
            <a:avLst/>
          </a:prstGeom>
        </p:spPr>
      </p:pic>
      <p:sp>
        <p:nvSpPr>
          <p:cNvPr id="10" name="карточка U1 · Arduino Uno"/>
          <p:cNvSpPr/>
          <p:nvPr/>
        </p:nvSpPr>
        <p:spPr>
          <a:xfrm>
            <a:off x="5623560" y="1097280"/>
            <a:ext cx="3063240" cy="64008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1" name="акцент U1 · Arduino Uno"/>
          <p:cNvSpPr/>
          <p:nvPr/>
        </p:nvSpPr>
        <p:spPr>
          <a:xfrm>
            <a:off x="5623560" y="1097280"/>
            <a:ext cx="64008" cy="640080"/>
          </a:xfrm>
          <a:prstGeom prst="rect">
            <a:avLst/>
          </a:prstGeom>
          <a:solidFill>
            <a:srgbClr val="1F6FB2"/>
          </a:solidFill>
          <a:ln w="12700">
            <a:solidFill>
              <a:srgbClr val="1F6FB2"/>
            </a:solidFill>
            <a:prstDash val="solid"/>
          </a:ln>
        </p:spPr>
      </p:sp>
      <p:sp>
        <p:nvSpPr>
          <p:cNvPr id="12" name="текст U1 · Arduino Uno"/>
          <p:cNvSpPr txBox="1"/>
          <p:nvPr/>
        </p:nvSpPr>
        <p:spPr>
          <a:xfrm>
            <a:off x="5806440" y="1143000"/>
            <a:ext cx="2788920" cy="548640"/>
          </a:xfrm>
          <a:prstGeom prst="rect">
            <a:avLst/>
          </a:prstGeom>
          <a:noFill/>
          <a:ln/>
        </p:spPr>
        <p:txBody>
          <a:bodyPr wrap="square" lIns="0" tIns="0" rIns="0" bIns="0" rtlCol="0" anchor="ctr"/>
          <a:lstStyle/>
          <a:p>
            <a:pPr indent="0" marL="0">
              <a:buNone/>
            </a:pPr>
            <a:r>
              <a:rPr lang="en-US" sz="1250" b="1" dirty="0">
                <a:solidFill>
                  <a:srgbClr val="0F2747"/>
                </a:solidFill>
              </a:rPr>
              <a:t>U1 · Arduino Uno</a:t>
            </a:r>
            <a:endParaRPr lang="en-US" sz="1250" dirty="0"/>
          </a:p>
          <a:p>
            <a:pPr indent="0" marL="0">
              <a:buNone/>
            </a:pPr>
            <a:r>
              <a:rPr lang="en-US" sz="1100" dirty="0">
                <a:solidFill>
                  <a:srgbClr val="1B2433"/>
                </a:solidFill>
              </a:rPr>
              <a:t>R3, ATmega328P, питание от USB</a:t>
            </a:r>
            <a:endParaRPr lang="en-US" sz="1250" dirty="0"/>
          </a:p>
        </p:txBody>
      </p:sp>
      <p:sp>
        <p:nvSpPr>
          <p:cNvPr id="13" name="карточка U2, U3, DHT1 · датчики"/>
          <p:cNvSpPr/>
          <p:nvPr/>
        </p:nvSpPr>
        <p:spPr>
          <a:xfrm>
            <a:off x="5623560" y="1828800"/>
            <a:ext cx="3063240" cy="64008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4" name="акцент U2, U3, DHT1 · датчики"/>
          <p:cNvSpPr/>
          <p:nvPr/>
        </p:nvSpPr>
        <p:spPr>
          <a:xfrm>
            <a:off x="5623560" y="1828800"/>
            <a:ext cx="64008" cy="640080"/>
          </a:xfrm>
          <a:prstGeom prst="rect">
            <a:avLst/>
          </a:prstGeom>
          <a:solidFill>
            <a:srgbClr val="1F6FB2"/>
          </a:solidFill>
          <a:ln w="12700">
            <a:solidFill>
              <a:srgbClr val="1F6FB2"/>
            </a:solidFill>
            <a:prstDash val="solid"/>
          </a:ln>
        </p:spPr>
      </p:sp>
      <p:sp>
        <p:nvSpPr>
          <p:cNvPr id="15" name="текст U2, U3, DHT1 · датчики"/>
          <p:cNvSpPr txBox="1"/>
          <p:nvPr/>
        </p:nvSpPr>
        <p:spPr>
          <a:xfrm>
            <a:off x="5806440" y="1874520"/>
            <a:ext cx="2788920" cy="548640"/>
          </a:xfrm>
          <a:prstGeom prst="rect">
            <a:avLst/>
          </a:prstGeom>
          <a:noFill/>
          <a:ln/>
        </p:spPr>
        <p:txBody>
          <a:bodyPr wrap="square" lIns="0" tIns="0" rIns="0" bIns="0" rtlCol="0" anchor="ctr"/>
          <a:lstStyle/>
          <a:p>
            <a:pPr indent="0" marL="0">
              <a:buNone/>
            </a:pPr>
            <a:r>
              <a:rPr lang="en-US" sz="1250" b="1" dirty="0">
                <a:solidFill>
                  <a:srgbClr val="0F2747"/>
                </a:solidFill>
              </a:rPr>
              <a:t>U2, U3, DHT1 · датчики</a:t>
            </a:r>
            <a:endParaRPr lang="en-US" sz="1250" dirty="0"/>
          </a:p>
          <a:p>
            <a:pPr indent="0" marL="0">
              <a:buNone/>
            </a:pPr>
            <a:r>
              <a:rPr lang="en-US" sz="1100" dirty="0">
                <a:solidFill>
                  <a:srgbClr val="1B2433"/>
                </a:solidFill>
              </a:rPr>
              <a:t>MQ2 (A0), PIR (D2), DHT22 (D3)</a:t>
            </a:r>
            <a:endParaRPr lang="en-US" sz="1250" dirty="0"/>
          </a:p>
        </p:txBody>
      </p:sp>
      <p:sp>
        <p:nvSpPr>
          <p:cNvPr id="16" name="карточка U4, D1, D2 · выходы"/>
          <p:cNvSpPr/>
          <p:nvPr/>
        </p:nvSpPr>
        <p:spPr>
          <a:xfrm>
            <a:off x="5623560" y="2560320"/>
            <a:ext cx="3063240" cy="64008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7" name="акцент U4, D1, D2 · выходы"/>
          <p:cNvSpPr/>
          <p:nvPr/>
        </p:nvSpPr>
        <p:spPr>
          <a:xfrm>
            <a:off x="5623560" y="2560320"/>
            <a:ext cx="64008" cy="640080"/>
          </a:xfrm>
          <a:prstGeom prst="rect">
            <a:avLst/>
          </a:prstGeom>
          <a:solidFill>
            <a:srgbClr val="1F6FB2"/>
          </a:solidFill>
          <a:ln w="12700">
            <a:solidFill>
              <a:srgbClr val="1F6FB2"/>
            </a:solidFill>
            <a:prstDash val="solid"/>
          </a:ln>
        </p:spPr>
      </p:sp>
      <p:sp>
        <p:nvSpPr>
          <p:cNvPr id="18" name="текст U4, D1, D2 · выходы"/>
          <p:cNvSpPr txBox="1"/>
          <p:nvPr/>
        </p:nvSpPr>
        <p:spPr>
          <a:xfrm>
            <a:off x="5806440" y="2606040"/>
            <a:ext cx="2788920" cy="548640"/>
          </a:xfrm>
          <a:prstGeom prst="rect">
            <a:avLst/>
          </a:prstGeom>
          <a:noFill/>
          <a:ln/>
        </p:spPr>
        <p:txBody>
          <a:bodyPr wrap="square" lIns="0" tIns="0" rIns="0" bIns="0" rtlCol="0" anchor="ctr"/>
          <a:lstStyle/>
          <a:p>
            <a:pPr indent="0" marL="0">
              <a:buNone/>
            </a:pPr>
            <a:r>
              <a:rPr lang="en-US" sz="1250" b="1" dirty="0">
                <a:solidFill>
                  <a:srgbClr val="0F2747"/>
                </a:solidFill>
              </a:rPr>
              <a:t>U4, D1, D2 · выходы</a:t>
            </a:r>
            <a:endParaRPr lang="en-US" sz="1250" dirty="0"/>
          </a:p>
          <a:p>
            <a:pPr indent="0" marL="0">
              <a:buNone/>
            </a:pPr>
            <a:r>
              <a:rPr lang="en-US" sz="1100" dirty="0">
                <a:solidFill>
                  <a:srgbClr val="1B2433"/>
                </a:solidFill>
              </a:rPr>
              <a:t>реле D7, красный светодиод D8</a:t>
            </a:r>
            <a:endParaRPr lang="en-US" sz="1250" dirty="0"/>
          </a:p>
        </p:txBody>
      </p:sp>
      <p:sp>
        <p:nvSpPr>
          <p:cNvPr id="19" name="карточка R1 = 150 Ом"/>
          <p:cNvSpPr/>
          <p:nvPr/>
        </p:nvSpPr>
        <p:spPr>
          <a:xfrm>
            <a:off x="5623560" y="3291840"/>
            <a:ext cx="3063240" cy="64008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20" name="акцент R1 = 150 Ом"/>
          <p:cNvSpPr/>
          <p:nvPr/>
        </p:nvSpPr>
        <p:spPr>
          <a:xfrm>
            <a:off x="5623560" y="3291840"/>
            <a:ext cx="64008" cy="640080"/>
          </a:xfrm>
          <a:prstGeom prst="rect">
            <a:avLst/>
          </a:prstGeom>
          <a:solidFill>
            <a:srgbClr val="1F6FB2"/>
          </a:solidFill>
          <a:ln w="12700">
            <a:solidFill>
              <a:srgbClr val="1F6FB2"/>
            </a:solidFill>
            <a:prstDash val="solid"/>
          </a:ln>
        </p:spPr>
      </p:sp>
      <p:sp>
        <p:nvSpPr>
          <p:cNvPr id="21" name="текст R1 = 150 Ом"/>
          <p:cNvSpPr txBox="1"/>
          <p:nvPr/>
        </p:nvSpPr>
        <p:spPr>
          <a:xfrm>
            <a:off x="5806440" y="3337560"/>
            <a:ext cx="2788920" cy="548640"/>
          </a:xfrm>
          <a:prstGeom prst="rect">
            <a:avLst/>
          </a:prstGeom>
          <a:noFill/>
          <a:ln/>
        </p:spPr>
        <p:txBody>
          <a:bodyPr wrap="square" lIns="0" tIns="0" rIns="0" bIns="0" rtlCol="0" anchor="ctr"/>
          <a:lstStyle/>
          <a:p>
            <a:pPr indent="0" marL="0">
              <a:buNone/>
            </a:pPr>
            <a:r>
              <a:rPr lang="en-US" sz="1250" b="1" dirty="0">
                <a:solidFill>
                  <a:srgbClr val="0F2747"/>
                </a:solidFill>
              </a:rPr>
              <a:t>R1 = 150 Ом</a:t>
            </a:r>
            <a:endParaRPr lang="en-US" sz="1250" dirty="0"/>
          </a:p>
          <a:p>
            <a:pPr indent="0" marL="0">
              <a:buNone/>
            </a:pPr>
            <a:r>
              <a:rPr lang="en-US" sz="1100" dirty="0">
                <a:solidFill>
                  <a:srgbClr val="1B2433"/>
                </a:solidFill>
              </a:rPr>
              <a:t>(5 − 2,0) / 0,020 = 150 Ом, I = 20 мА</a:t>
            </a:r>
            <a:endParaRPr lang="en-US" sz="1250" dirty="0"/>
          </a:p>
        </p:txBody>
      </p:sp>
      <p:sp>
        <p:nvSpPr>
          <p:cNvPr id="22" name="карточка ≈ 306 мА"/>
          <p:cNvSpPr/>
          <p:nvPr/>
        </p:nvSpPr>
        <p:spPr>
          <a:xfrm>
            <a:off x="5623560" y="4023360"/>
            <a:ext cx="3063240" cy="64008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23" name="акцент ≈ 306 мА"/>
          <p:cNvSpPr/>
          <p:nvPr/>
        </p:nvSpPr>
        <p:spPr>
          <a:xfrm>
            <a:off x="5623560" y="4023360"/>
            <a:ext cx="64008" cy="640080"/>
          </a:xfrm>
          <a:prstGeom prst="rect">
            <a:avLst/>
          </a:prstGeom>
          <a:solidFill>
            <a:srgbClr val="C9A227"/>
          </a:solidFill>
          <a:ln w="12700">
            <a:solidFill>
              <a:srgbClr val="C9A227"/>
            </a:solidFill>
            <a:prstDash val="solid"/>
          </a:ln>
        </p:spPr>
      </p:sp>
      <p:sp>
        <p:nvSpPr>
          <p:cNvPr id="24" name="текст ≈ 306 мА"/>
          <p:cNvSpPr txBox="1"/>
          <p:nvPr/>
        </p:nvSpPr>
        <p:spPr>
          <a:xfrm>
            <a:off x="5806440" y="4069080"/>
            <a:ext cx="2788920" cy="548640"/>
          </a:xfrm>
          <a:prstGeom prst="rect">
            <a:avLst/>
          </a:prstGeom>
          <a:noFill/>
          <a:ln/>
        </p:spPr>
        <p:txBody>
          <a:bodyPr wrap="square" lIns="0" tIns="0" rIns="0" bIns="0" rtlCol="0" anchor="ctr"/>
          <a:lstStyle/>
          <a:p>
            <a:pPr indent="0" marL="0">
              <a:buNone/>
            </a:pPr>
            <a:r>
              <a:rPr lang="en-US" sz="1250" b="1" dirty="0">
                <a:solidFill>
                  <a:srgbClr val="C9A227"/>
                </a:solidFill>
              </a:rPr>
              <a:t>≈ 306 мА</a:t>
            </a:r>
            <a:endParaRPr lang="en-US" sz="1250" dirty="0"/>
          </a:p>
          <a:p>
            <a:pPr indent="0" marL="0">
              <a:buNone/>
            </a:pPr>
            <a:r>
              <a:rPr lang="en-US" sz="1100" dirty="0">
                <a:solidFill>
                  <a:srgbClr val="FFFFFF"/>
                </a:solidFill>
              </a:rPr>
              <a:t>суммарный ток, меньше 500 мА USB</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07</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Модель в Wokwi</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Схемы</a:t>
            </a:r>
            <a:endParaRPr lang="en-US" sz="1000" dirty="0"/>
          </a:p>
        </p:txBody>
      </p:sp>
      <p:sp>
        <p:nvSpPr>
          <p:cNvPr id="8" name="рамка модель Wokwi, дым выше порога"/>
          <p:cNvSpPr/>
          <p:nvPr/>
        </p:nvSpPr>
        <p:spPr>
          <a:xfrm>
            <a:off x="442781" y="1042416"/>
            <a:ext cx="2360559" cy="1938528"/>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9" name="модель Wokwi, дым выше порога" descr="Модель Wokwi: дым выше порога, реле и светодиод включены">    </p:cNvPr>
          <p:cNvPicPr>
            <a:picLocks noChangeAspect="1"/>
          </p:cNvPicPr>
          <p:nvPr/>
        </p:nvPicPr>
        <p:blipFill>
          <a:blip r:embed="rId2"/>
          <a:stretch>
            <a:fillRect/>
          </a:stretch>
        </p:blipFill>
        <p:spPr>
          <a:xfrm>
            <a:off x="497645" y="1097280"/>
            <a:ext cx="2250831" cy="1828800"/>
          </a:xfrm>
          <a:prstGeom prst="rect">
            <a:avLst/>
          </a:prstGeom>
        </p:spPr>
      </p:pic>
      <p:sp>
        <p:nvSpPr>
          <p:cNvPr id="10" name="рамка модель Wokwi, дым в норме"/>
          <p:cNvSpPr/>
          <p:nvPr/>
        </p:nvSpPr>
        <p:spPr>
          <a:xfrm>
            <a:off x="2911661" y="1042416"/>
            <a:ext cx="2360559" cy="1938528"/>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11" name="модель Wokwi, дым в норме" descr="Модель Wokwi: дым в норме, реле и светодиод выключены">    </p:cNvPr>
          <p:cNvPicPr>
            <a:picLocks noChangeAspect="1"/>
          </p:cNvPicPr>
          <p:nvPr/>
        </p:nvPicPr>
        <p:blipFill>
          <a:blip r:embed="rId3"/>
          <a:stretch>
            <a:fillRect/>
          </a:stretch>
        </p:blipFill>
        <p:spPr>
          <a:xfrm>
            <a:off x="2966525" y="1097280"/>
            <a:ext cx="2250831" cy="1828800"/>
          </a:xfrm>
          <a:prstGeom prst="rect">
            <a:avLst/>
          </a:prstGeom>
        </p:spPr>
      </p:pic>
      <p:sp>
        <p:nvSpPr>
          <p:cNvPr id="12" name="подпись тревоги"/>
          <p:cNvSpPr txBox="1"/>
          <p:nvPr/>
        </p:nvSpPr>
        <p:spPr>
          <a:xfrm>
            <a:off x="457200" y="3017520"/>
            <a:ext cx="2331720" cy="274320"/>
          </a:xfrm>
          <a:prstGeom prst="rect">
            <a:avLst/>
          </a:prstGeom>
          <a:noFill/>
          <a:ln/>
        </p:spPr>
        <p:txBody>
          <a:bodyPr wrap="square" lIns="0" tIns="0" rIns="0" bIns="0" rtlCol="0" anchor="ctr"/>
          <a:lstStyle/>
          <a:p>
            <a:pPr algn="ctr" indent="0" marL="0">
              <a:buNone/>
            </a:pPr>
            <a:r>
              <a:rPr lang="en-US" sz="1100" b="1" dirty="0">
                <a:solidFill>
                  <a:srgbClr val="C9372C"/>
                </a:solidFill>
              </a:rPr>
              <a:t>дым &gt; 25 %: включено</a:t>
            </a:r>
            <a:endParaRPr lang="en-US" sz="1100" dirty="0"/>
          </a:p>
        </p:txBody>
      </p:sp>
      <p:sp>
        <p:nvSpPr>
          <p:cNvPr id="13" name="подпись нормы"/>
          <p:cNvSpPr txBox="1"/>
          <p:nvPr/>
        </p:nvSpPr>
        <p:spPr>
          <a:xfrm>
            <a:off x="2926080" y="3017520"/>
            <a:ext cx="2331720" cy="274320"/>
          </a:xfrm>
          <a:prstGeom prst="rect">
            <a:avLst/>
          </a:prstGeom>
          <a:noFill/>
          <a:ln/>
        </p:spPr>
        <p:txBody>
          <a:bodyPr wrap="square" lIns="0" tIns="0" rIns="0" bIns="0" rtlCol="0" anchor="ctr"/>
          <a:lstStyle/>
          <a:p>
            <a:pPr algn="ctr" indent="0" marL="0">
              <a:buNone/>
            </a:pPr>
            <a:r>
              <a:rPr lang="en-US" sz="1100" b="1" dirty="0">
                <a:solidFill>
                  <a:srgbClr val="2E7D5B"/>
                </a:solidFill>
              </a:rPr>
              <a:t>дым в норме: выключено</a:t>
            </a:r>
            <a:endParaRPr lang="en-US" sz="1100" dirty="0"/>
          </a:p>
        </p:txBody>
      </p:sp>
      <p:sp>
        <p:nvSpPr>
          <p:cNvPr id="14" name="рамка Serial Monitor"/>
          <p:cNvSpPr/>
          <p:nvPr/>
        </p:nvSpPr>
        <p:spPr>
          <a:xfrm>
            <a:off x="471812" y="3374136"/>
            <a:ext cx="4771375" cy="1298448"/>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15" name="Serial Monitor" descr="Serial Monitor: событие NORMAL">    </p:cNvPr>
          <p:cNvPicPr>
            <a:picLocks noChangeAspect="1"/>
          </p:cNvPicPr>
          <p:nvPr/>
        </p:nvPicPr>
        <p:blipFill>
          <a:blip r:embed="rId4"/>
          <a:stretch>
            <a:fillRect/>
          </a:stretch>
        </p:blipFill>
        <p:spPr>
          <a:xfrm>
            <a:off x="526676" y="3429000"/>
            <a:ext cx="4661647" cy="1188720"/>
          </a:xfrm>
          <a:prstGeom prst="rect">
            <a:avLst/>
          </a:prstGeom>
        </p:spPr>
      </p:pic>
      <p:graphicFrame>
        <p:nvGraphicFramePr>
          <p:cNvPr id="8" name="таблица подключений"/>
          <p:cNvGraphicFramePr>
            <a:graphicFrameLocks noGrp="1"/>
          </p:cNvGraphicFramePr>
          <p:nvPr>
            <p:extLst>
              <p:ext uri="{D42A27DB-BD31-4B8C-83A1-F6EECF244321}">
                <p14:modId xmlns:p14="http://schemas.microsoft.com/office/powerpoint/2010/main" val="1579011935"/>
              </p:ext>
            </p:extLst>
          </p:nvPr>
        </p:nvGraphicFramePr>
        <p:xfrm>
          <a:off x="5532120" y="1143000"/>
          <a:ext cx="3154680" cy="914400"/>
        </p:xfrm>
        <a:graphic>
          <a:graphicData uri="http://schemas.openxmlformats.org/drawingml/2006/table">
            <a:tbl>
              <a:tblPr/>
              <a:tblGrid>
                <a:gridCol w="1280160"/>
                <a:gridCol w="1143000"/>
                <a:gridCol w="731520"/>
              </a:tblGrid>
              <a:tr h="365760">
                <a:tc>
                  <a:txBody>
                    <a:bodyPr/>
                    <a:lstStyle/>
                    <a:p>
                      <a:pPr indent="0" marL="0">
                        <a:buNone/>
                      </a:pPr>
                      <a:r>
                        <a:rPr lang="en-US" sz="1300" b="1" dirty="0">
                          <a:solidFill>
                            <a:srgbClr val="FFFFFF"/>
                          </a:solidFill>
                        </a:rPr>
                        <a:t>Сигнал</a:t>
                      </a:r>
                      <a:endParaRPr lang="en-US" sz="13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rgbClr val="0F2747"/>
                    </a:solidFill>
                  </a:tcPr>
                </a:tc>
                <a:tc>
                  <a:txBody>
                    <a:bodyPr/>
                    <a:lstStyle/>
                    <a:p>
                      <a:pPr indent="0" marL="0">
                        <a:buNone/>
                      </a:pPr>
                      <a:r>
                        <a:rPr lang="en-US" sz="1300" b="1" dirty="0">
                          <a:solidFill>
                            <a:srgbClr val="FFFFFF"/>
                          </a:solidFill>
                        </a:rPr>
                        <a:t>Компонент</a:t>
                      </a:r>
                      <a:endParaRPr lang="en-US" sz="13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rgbClr val="0F2747"/>
                    </a:solidFill>
                  </a:tcPr>
                </a:tc>
                <a:tc>
                  <a:txBody>
                    <a:bodyPr/>
                    <a:lstStyle/>
                    <a:p>
                      <a:pPr indent="0" marL="0">
                        <a:buNone/>
                      </a:pPr>
                      <a:r>
                        <a:rPr lang="en-US" sz="1300" b="1" dirty="0">
                          <a:solidFill>
                            <a:srgbClr val="FFFFFF"/>
                          </a:solidFill>
                        </a:rPr>
                        <a:t>Вывод</a:t>
                      </a:r>
                      <a:endParaRPr lang="en-US" sz="13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rgbClr val="0F2747"/>
                    </a:solidFill>
                  </a:tcPr>
                </a:tc>
              </a:tr>
              <a:tr h="365760">
                <a:tc>
                  <a:txBody>
                    <a:bodyPr/>
                    <a:lstStyle/>
                    <a:p>
                      <a:pPr indent="0" marL="0">
                        <a:buNone/>
                      </a:pPr>
                      <a:r>
                        <a:rPr lang="en-US" sz="1200" dirty="0">
                          <a:solidFill>
                            <a:srgbClr val="1B2433"/>
                          </a:solidFill>
                        </a:rPr>
                        <a:t>Дым s1</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dirty="0">
                          <a:solidFill>
                            <a:srgbClr val="1B2433"/>
                          </a:solidFill>
                        </a:rPr>
                        <a:t>MQ2 (AOUT)</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b="1" dirty="0">
                          <a:solidFill>
                            <a:srgbClr val="1F6FB2"/>
                          </a:solidFill>
                        </a:rPr>
                        <a:t>A0</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r>
              <a:tr h="365760">
                <a:tc>
                  <a:txBody>
                    <a:bodyPr/>
                    <a:lstStyle/>
                    <a:p>
                      <a:pPr indent="0" marL="0">
                        <a:buNone/>
                      </a:pPr>
                      <a:r>
                        <a:rPr lang="en-US" sz="1200" dirty="0">
                          <a:solidFill>
                            <a:srgbClr val="1B2433"/>
                          </a:solidFill>
                        </a:rPr>
                        <a:t>Присутствие s2</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dirty="0">
                          <a:solidFill>
                            <a:srgbClr val="1B2433"/>
                          </a:solidFill>
                        </a:rPr>
                        <a:t>PIR (OUT)</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b="1" dirty="0">
                          <a:solidFill>
                            <a:srgbClr val="1F6FB2"/>
                          </a:solidFill>
                        </a:rPr>
                        <a:t>D2</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r>
              <a:tr h="365760">
                <a:tc>
                  <a:txBody>
                    <a:bodyPr/>
                    <a:lstStyle/>
                    <a:p>
                      <a:pPr indent="0" marL="0">
                        <a:buNone/>
                      </a:pPr>
                      <a:r>
                        <a:rPr lang="en-US" sz="1200" dirty="0">
                          <a:solidFill>
                            <a:srgbClr val="1B2433"/>
                          </a:solidFill>
                        </a:rPr>
                        <a:t>Влажность s3</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dirty="0">
                          <a:solidFill>
                            <a:srgbClr val="1B2433"/>
                          </a:solidFill>
                        </a:rPr>
                        <a:t>DHT22 (SDA)</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b="1" dirty="0">
                          <a:solidFill>
                            <a:srgbClr val="1F6FB2"/>
                          </a:solidFill>
                        </a:rPr>
                        <a:t>D3</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r>
              <a:tr h="365760">
                <a:tc>
                  <a:txBody>
                    <a:bodyPr/>
                    <a:lstStyle/>
                    <a:p>
                      <a:pPr indent="0" marL="0">
                        <a:buNone/>
                      </a:pPr>
                      <a:r>
                        <a:rPr lang="en-US" sz="1200" dirty="0">
                          <a:solidFill>
                            <a:srgbClr val="1B2433"/>
                          </a:solidFill>
                        </a:rPr>
                        <a:t>Вентилятор</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dirty="0">
                          <a:solidFill>
                            <a:srgbClr val="1B2433"/>
                          </a:solidFill>
                        </a:rPr>
                        <a:t>реле (IN)</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b="1" dirty="0">
                          <a:solidFill>
                            <a:srgbClr val="1F6FB2"/>
                          </a:solidFill>
                        </a:rPr>
                        <a:t>D7</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r>
              <a:tr h="365760">
                <a:tc>
                  <a:txBody>
                    <a:bodyPr/>
                    <a:lstStyle/>
                    <a:p>
                      <a:pPr indent="0" marL="0">
                        <a:buNone/>
                      </a:pPr>
                      <a:r>
                        <a:rPr lang="en-US" sz="1200" dirty="0">
                          <a:solidFill>
                            <a:srgbClr val="1B2433"/>
                          </a:solidFill>
                        </a:rPr>
                        <a:t>Индикатор</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dirty="0">
                          <a:solidFill>
                            <a:srgbClr val="1B2433"/>
                          </a:solidFill>
                        </a:rPr>
                        <a:t>LED + R1</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c>
                  <a:txBody>
                    <a:bodyPr/>
                    <a:lstStyle/>
                    <a:p>
                      <a:pPr indent="0" marL="0">
                        <a:buNone/>
                      </a:pPr>
                      <a:r>
                        <a:rPr lang="en-US" sz="1200" b="1" dirty="0">
                          <a:solidFill>
                            <a:srgbClr val="1F6FB2"/>
                          </a:solidFill>
                        </a:rPr>
                        <a:t>D8</a:t>
                      </a:r>
                      <a:endParaRPr lang="en-US" sz="1200" dirty="0"/>
                    </a:p>
                  </a:txBody>
                  <a:tcPr marL="91440" marR="91440" marT="45720" marB="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tcPr>
                </a:tc>
              </a:tr>
            </a:tbl>
          </a:graphicData>
        </a:graphic>
      </p:graphicFrame>
      <p:sp>
        <p:nvSpPr>
          <p:cNvPr id="17" name="файлы модели"/>
          <p:cNvSpPr txBox="1"/>
          <p:nvPr/>
        </p:nvSpPr>
        <p:spPr>
          <a:xfrm>
            <a:off x="5532120" y="3520440"/>
            <a:ext cx="3154680" cy="457200"/>
          </a:xfrm>
          <a:prstGeom prst="rect">
            <a:avLst/>
          </a:prstGeom>
          <a:noFill/>
          <a:ln/>
        </p:spPr>
        <p:txBody>
          <a:bodyPr wrap="square" lIns="0" tIns="0" rIns="0" bIns="0" rtlCol="0" anchor="ctr"/>
          <a:lstStyle/>
          <a:p>
            <a:pPr indent="0" marL="0">
              <a:buNone/>
            </a:pPr>
            <a:r>
              <a:rPr lang="en-US" sz="1200" dirty="0">
                <a:solidFill>
                  <a:srgbClr val="6B778A"/>
                </a:solidFill>
              </a:rPr>
              <a:t>Файлы: sim/diagram.json, sim/sketch.ino</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08</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Прошивка и протокол</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Программа</a:t>
            </a:r>
            <a:endParaRPr lang="en-US" sz="1000" dirty="0"/>
          </a:p>
        </p:txBody>
      </p:sp>
      <p:sp>
        <p:nvSpPr>
          <p:cNvPr id="8" name="фон журнала"/>
          <p:cNvSpPr/>
          <p:nvPr/>
        </p:nvSpPr>
        <p:spPr>
          <a:xfrm>
            <a:off x="457200" y="1143000"/>
            <a:ext cx="4572000" cy="2011680"/>
          </a:xfrm>
          <a:prstGeom prst="rect">
            <a:avLst/>
          </a:prstGeom>
          <a:solidFill>
            <a:srgbClr val="0B1A30"/>
          </a:solidFill>
          <a:ln w="12700">
            <a:solidFill>
              <a:srgbClr val="0F2747"/>
            </a:solidFill>
            <a:prstDash val="solid"/>
          </a:ln>
          <a:effectLst>
            <a:outerShdw sx="100000" sy="100000" kx="0" ky="0" algn="bl" rotWithShape="0" blurRad="76200" dist="25400" dir="5400000">
              <a:srgbClr val="000000">
                <a:alpha val="20000"/>
              </a:srgbClr>
            </a:outerShdw>
          </a:effectLst>
        </p:spPr>
      </p:sp>
      <p:sp>
        <p:nvSpPr>
          <p:cNvPr id="9" name="пример журнала"/>
          <p:cNvSpPr txBox="1"/>
          <p:nvPr/>
        </p:nvSpPr>
        <p:spPr>
          <a:xfrm>
            <a:off x="640080" y="1234440"/>
            <a:ext cx="4297680" cy="182880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DATA n=56 s1=0.00 s2=0 s3=55.0</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DATA n=57 s1=38.82 s2=0 s3=55.0</a:t>
            </a:r>
            <a:endParaRPr lang="en-US" sz="1300" dirty="0"/>
          </a:p>
          <a:p>
            <a:pPr indent="0" marL="0">
              <a:buNone/>
            </a:pPr>
            <a:r>
              <a:rPr lang="en-US" sz="1300" b="1" dirty="0">
                <a:solidFill>
                  <a:srgbClr val="F2C94C"/>
                </a:solidFill>
                <a:latin typeface="Courier New" pitchFamily="34" charset="0"/>
                <a:ea typeface="Courier New" pitchFamily="34" charset="-122"/>
                <a:cs typeface="Courier New" pitchFamily="34" charset="-120"/>
              </a:rPr>
              <a:t>EVENT n=57 type=THRESHOLD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indent="0" marL="0">
              <a:buNone/>
            </a:pPr>
            <a:r>
              <a:rPr lang="en-US" sz="1300" b="1" dirty="0">
                <a:solidFill>
                  <a:srgbClr val="6FCF97"/>
                </a:solidFill>
                <a:latin typeface="Courier New" pitchFamily="34" charset="0"/>
                <a:ea typeface="Courier New" pitchFamily="34" charset="-122"/>
                <a:cs typeface="Courier New" pitchFamily="34" charset="-120"/>
              </a:rPr>
              <a:t>EVENT n=78 type=NORMAL</a:t>
            </a:r>
            <a:endParaRPr lang="en-US" sz="1300" dirty="0"/>
          </a:p>
        </p:txBody>
      </p:sp>
      <p:sp>
        <p:nvSpPr>
          <p:cNvPr id="10" name="карточка DATA"/>
          <p:cNvSpPr/>
          <p:nvPr/>
        </p:nvSpPr>
        <p:spPr>
          <a:xfrm>
            <a:off x="5303520" y="1143000"/>
            <a:ext cx="3383280" cy="91440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1" name="акцент DATA"/>
          <p:cNvSpPr/>
          <p:nvPr/>
        </p:nvSpPr>
        <p:spPr>
          <a:xfrm>
            <a:off x="5303520" y="1143000"/>
            <a:ext cx="64008" cy="914400"/>
          </a:xfrm>
          <a:prstGeom prst="rect">
            <a:avLst/>
          </a:prstGeom>
          <a:solidFill>
            <a:srgbClr val="1F6FB2"/>
          </a:solidFill>
          <a:ln w="12700">
            <a:solidFill>
              <a:srgbClr val="1F6FB2"/>
            </a:solidFill>
            <a:prstDash val="solid"/>
          </a:ln>
        </p:spPr>
      </p:sp>
      <p:sp>
        <p:nvSpPr>
          <p:cNvPr id="12" name="текст DATA"/>
          <p:cNvSpPr txBox="1"/>
          <p:nvPr/>
        </p:nvSpPr>
        <p:spPr>
          <a:xfrm>
            <a:off x="5486400" y="1188720"/>
            <a:ext cx="3108960" cy="822960"/>
          </a:xfrm>
          <a:prstGeom prst="rect">
            <a:avLst/>
          </a:prstGeom>
          <a:noFill/>
          <a:ln/>
        </p:spPr>
        <p:txBody>
          <a:bodyPr wrap="square" lIns="0" tIns="0" rIns="0" bIns="0" rtlCol="0" anchor="ctr"/>
          <a:lstStyle/>
          <a:p>
            <a:pPr indent="0" marL="0">
              <a:buNone/>
            </a:pPr>
            <a:r>
              <a:rPr lang="en-US" sz="1500" b="1" dirty="0">
                <a:solidFill>
                  <a:srgbClr val="0F2747"/>
                </a:solidFill>
              </a:rPr>
              <a:t>DATA</a:t>
            </a:r>
            <a:endParaRPr lang="en-US" sz="1500" dirty="0"/>
          </a:p>
          <a:p>
            <a:pPr indent="0" marL="0">
              <a:buNone/>
            </a:pPr>
            <a:r>
              <a:rPr lang="en-US" sz="1300" dirty="0">
                <a:solidFill>
                  <a:srgbClr val="1B2433"/>
                </a:solidFill>
              </a:rPr>
              <a:t>каждую секунду: n, s1, s2, s3</a:t>
            </a:r>
            <a:endParaRPr lang="en-US" sz="1500" dirty="0"/>
          </a:p>
        </p:txBody>
      </p:sp>
      <p:sp>
        <p:nvSpPr>
          <p:cNvPr id="13" name="карточка EVENT"/>
          <p:cNvSpPr/>
          <p:nvPr/>
        </p:nvSpPr>
        <p:spPr>
          <a:xfrm>
            <a:off x="5303520" y="2240280"/>
            <a:ext cx="3383280" cy="91440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4" name="акцент EVENT"/>
          <p:cNvSpPr/>
          <p:nvPr/>
        </p:nvSpPr>
        <p:spPr>
          <a:xfrm>
            <a:off x="5303520" y="2240280"/>
            <a:ext cx="64008" cy="914400"/>
          </a:xfrm>
          <a:prstGeom prst="rect">
            <a:avLst/>
          </a:prstGeom>
          <a:solidFill>
            <a:srgbClr val="1F6FB2"/>
          </a:solidFill>
          <a:ln w="12700">
            <a:solidFill>
              <a:srgbClr val="1F6FB2"/>
            </a:solidFill>
            <a:prstDash val="solid"/>
          </a:ln>
        </p:spPr>
      </p:sp>
      <p:sp>
        <p:nvSpPr>
          <p:cNvPr id="15" name="текст EVENT"/>
          <p:cNvSpPr txBox="1"/>
          <p:nvPr/>
        </p:nvSpPr>
        <p:spPr>
          <a:xfrm>
            <a:off x="5486400" y="2286000"/>
            <a:ext cx="3108960" cy="822960"/>
          </a:xfrm>
          <a:prstGeom prst="rect">
            <a:avLst/>
          </a:prstGeom>
          <a:noFill/>
          <a:ln/>
        </p:spPr>
        <p:txBody>
          <a:bodyPr wrap="square" lIns="0" tIns="0" rIns="0" bIns="0" rtlCol="0" anchor="ctr"/>
          <a:lstStyle/>
          <a:p>
            <a:pPr indent="0" marL="0">
              <a:buNone/>
            </a:pPr>
            <a:r>
              <a:rPr lang="en-US" sz="1500" b="1" dirty="0">
                <a:solidFill>
                  <a:srgbClr val="0F2747"/>
                </a:solidFill>
              </a:rPr>
              <a:t>EVENT</a:t>
            </a:r>
            <a:endParaRPr lang="en-US" sz="1500" dirty="0"/>
          </a:p>
          <a:p>
            <a:pPr indent="0" marL="0">
              <a:buNone/>
            </a:pPr>
            <a:r>
              <a:rPr lang="en-US" sz="1300" dirty="0">
                <a:solidFill>
                  <a:srgbClr val="1B2433"/>
                </a:solidFill>
              </a:rPr>
              <a:t>только при смене состояния: THRESHOLD, NORMAL</a:t>
            </a:r>
            <a:endParaRPr lang="en-US" sz="1500" dirty="0"/>
          </a:p>
        </p:txBody>
      </p:sp>
      <p:sp>
        <p:nvSpPr>
          <p:cNvPr id="16" name="карточка setup()"/>
          <p:cNvSpPr/>
          <p:nvPr/>
        </p:nvSpPr>
        <p:spPr>
          <a:xfrm>
            <a:off x="457200" y="3383280"/>
            <a:ext cx="2743200" cy="11887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7" name="акцент setup()"/>
          <p:cNvSpPr/>
          <p:nvPr/>
        </p:nvSpPr>
        <p:spPr>
          <a:xfrm>
            <a:off x="457200" y="3383280"/>
            <a:ext cx="64008" cy="1188720"/>
          </a:xfrm>
          <a:prstGeom prst="rect">
            <a:avLst/>
          </a:prstGeom>
          <a:solidFill>
            <a:srgbClr val="1F6FB2"/>
          </a:solidFill>
          <a:ln w="12700">
            <a:solidFill>
              <a:srgbClr val="1F6FB2"/>
            </a:solidFill>
            <a:prstDash val="solid"/>
          </a:ln>
        </p:spPr>
      </p:sp>
      <p:sp>
        <p:nvSpPr>
          <p:cNvPr id="18" name="текст setup()"/>
          <p:cNvSpPr txBox="1"/>
          <p:nvPr/>
        </p:nvSpPr>
        <p:spPr>
          <a:xfrm>
            <a:off x="640080" y="3429000"/>
            <a:ext cx="2468880" cy="1097280"/>
          </a:xfrm>
          <a:prstGeom prst="rect">
            <a:avLst/>
          </a:prstGeom>
          <a:noFill/>
          <a:ln/>
        </p:spPr>
        <p:txBody>
          <a:bodyPr wrap="square" lIns="0" tIns="0" rIns="0" bIns="0" rtlCol="0" anchor="ctr"/>
          <a:lstStyle/>
          <a:p>
            <a:pPr indent="0" marL="0">
              <a:buNone/>
            </a:pPr>
            <a:r>
              <a:rPr lang="en-US" sz="1500" b="1" dirty="0">
                <a:solidFill>
                  <a:srgbClr val="0F2747"/>
                </a:solidFill>
              </a:rPr>
              <a:t>setup()</a:t>
            </a:r>
            <a:endParaRPr lang="en-US" sz="1500" dirty="0"/>
          </a:p>
          <a:p>
            <a:pPr indent="0" marL="0">
              <a:buNone/>
            </a:pPr>
            <a:r>
              <a:rPr lang="en-US" sz="1300" dirty="0">
                <a:solidFill>
                  <a:srgbClr val="1B2433"/>
                </a:solidFill>
              </a:rPr>
              <a:t>порт 9600 бод, выводы, выходы выключены</a:t>
            </a:r>
            <a:endParaRPr lang="en-US" sz="1500" dirty="0"/>
          </a:p>
        </p:txBody>
      </p:sp>
      <p:sp>
        <p:nvSpPr>
          <p:cNvPr id="19" name="карточка loop()"/>
          <p:cNvSpPr/>
          <p:nvPr/>
        </p:nvSpPr>
        <p:spPr>
          <a:xfrm>
            <a:off x="3337560" y="3383280"/>
            <a:ext cx="2743200" cy="11887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20" name="акцент loop()"/>
          <p:cNvSpPr/>
          <p:nvPr/>
        </p:nvSpPr>
        <p:spPr>
          <a:xfrm>
            <a:off x="3337560" y="3383280"/>
            <a:ext cx="64008" cy="1188720"/>
          </a:xfrm>
          <a:prstGeom prst="rect">
            <a:avLst/>
          </a:prstGeom>
          <a:solidFill>
            <a:srgbClr val="1F6FB2"/>
          </a:solidFill>
          <a:ln w="12700">
            <a:solidFill>
              <a:srgbClr val="1F6FB2"/>
            </a:solidFill>
            <a:prstDash val="solid"/>
          </a:ln>
        </p:spPr>
      </p:sp>
      <p:sp>
        <p:nvSpPr>
          <p:cNvPr id="21" name="текст loop()"/>
          <p:cNvSpPr txBox="1"/>
          <p:nvPr/>
        </p:nvSpPr>
        <p:spPr>
          <a:xfrm>
            <a:off x="3520440" y="3429000"/>
            <a:ext cx="2468880" cy="1097280"/>
          </a:xfrm>
          <a:prstGeom prst="rect">
            <a:avLst/>
          </a:prstGeom>
          <a:noFill/>
          <a:ln/>
        </p:spPr>
        <p:txBody>
          <a:bodyPr wrap="square" lIns="0" tIns="0" rIns="0" bIns="0" rtlCol="0" anchor="ctr"/>
          <a:lstStyle/>
          <a:p>
            <a:pPr indent="0" marL="0">
              <a:buNone/>
            </a:pPr>
            <a:r>
              <a:rPr lang="en-US" sz="1500" b="1" dirty="0">
                <a:solidFill>
                  <a:srgbClr val="0F2747"/>
                </a:solidFill>
              </a:rPr>
              <a:t>loop()</a:t>
            </a:r>
            <a:endParaRPr lang="en-US" sz="1500" dirty="0"/>
          </a:p>
          <a:p>
            <a:pPr indent="0" marL="0">
              <a:buNone/>
            </a:pPr>
            <a:r>
              <a:rPr lang="en-US" sz="1300" dirty="0">
                <a:solidFill>
                  <a:srgbClr val="1B2433"/>
                </a:solidFill>
              </a:rPr>
              <a:t>опрос, проверка порога, печать, пауза 1 с</a:t>
            </a:r>
            <a:endParaRPr lang="en-US" sz="1500" dirty="0"/>
          </a:p>
        </p:txBody>
      </p:sp>
      <p:sp>
        <p:nvSpPr>
          <p:cNvPr id="22" name="карточка t_s = n · T"/>
          <p:cNvSpPr/>
          <p:nvPr/>
        </p:nvSpPr>
        <p:spPr>
          <a:xfrm>
            <a:off x="6217920" y="3383280"/>
            <a:ext cx="2468880" cy="118872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23" name="акцент t_s = n · T"/>
          <p:cNvSpPr/>
          <p:nvPr/>
        </p:nvSpPr>
        <p:spPr>
          <a:xfrm>
            <a:off x="6217920" y="3383280"/>
            <a:ext cx="64008" cy="1188720"/>
          </a:xfrm>
          <a:prstGeom prst="rect">
            <a:avLst/>
          </a:prstGeom>
          <a:solidFill>
            <a:srgbClr val="C9A227"/>
          </a:solidFill>
          <a:ln w="12700">
            <a:solidFill>
              <a:srgbClr val="C9A227"/>
            </a:solidFill>
            <a:prstDash val="solid"/>
          </a:ln>
        </p:spPr>
      </p:sp>
      <p:sp>
        <p:nvSpPr>
          <p:cNvPr id="24" name="текст t_s = n · T"/>
          <p:cNvSpPr txBox="1"/>
          <p:nvPr/>
        </p:nvSpPr>
        <p:spPr>
          <a:xfrm>
            <a:off x="6400800" y="3429000"/>
            <a:ext cx="2194560" cy="1097280"/>
          </a:xfrm>
          <a:prstGeom prst="rect">
            <a:avLst/>
          </a:prstGeom>
          <a:noFill/>
          <a:ln/>
        </p:spPr>
        <p:txBody>
          <a:bodyPr wrap="square" lIns="0" tIns="0" rIns="0" bIns="0" rtlCol="0" anchor="ctr"/>
          <a:lstStyle/>
          <a:p>
            <a:pPr indent="0" marL="0">
              <a:buNone/>
            </a:pPr>
            <a:r>
              <a:rPr lang="en-US" sz="1600" b="1" dirty="0">
                <a:solidFill>
                  <a:srgbClr val="C9A227"/>
                </a:solidFill>
              </a:rPr>
              <a:t>t_s = n · T</a:t>
            </a:r>
            <a:endParaRPr lang="en-US" sz="1600" dirty="0"/>
          </a:p>
          <a:p>
            <a:pPr indent="0" marL="0">
              <a:buNone/>
            </a:pPr>
            <a:r>
              <a:rPr lang="en-US" sz="1300" dirty="0">
                <a:solidFill>
                  <a:srgbClr val="FFFFFF"/>
                </a:solidFill>
              </a:rPr>
              <a:t>время измерения в базе, T = 1 с</a:t>
            </a:r>
            <a:endParaRPr lang="en-US" sz="16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09</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База данных SQLite</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Данные</a:t>
            </a:r>
            <a:endParaRPr lang="en-US" sz="1000" dirty="0"/>
          </a:p>
        </p:txBody>
      </p:sp>
      <p:sp>
        <p:nvSpPr>
          <p:cNvPr id="8" name="рамка ER-диаграмма"/>
          <p:cNvSpPr/>
          <p:nvPr/>
        </p:nvSpPr>
        <p:spPr>
          <a:xfrm>
            <a:off x="402336" y="1219833"/>
            <a:ext cx="4864608" cy="2315215"/>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9" name="ER-диаграмма" descr="Таблицы readings и events">    </p:cNvPr>
          <p:cNvPicPr>
            <a:picLocks noChangeAspect="1"/>
          </p:cNvPicPr>
          <p:nvPr/>
        </p:nvPicPr>
        <p:blipFill>
          <a:blip r:embed="rId2"/>
          <a:stretch>
            <a:fillRect/>
          </a:stretch>
        </p:blipFill>
        <p:spPr>
          <a:xfrm>
            <a:off x="457200" y="1274697"/>
            <a:ext cx="4754880" cy="2205487"/>
          </a:xfrm>
          <a:prstGeom prst="rect">
            <a:avLst/>
          </a:prstGeom>
        </p:spPr>
      </p:pic>
      <p:sp>
        <p:nvSpPr>
          <p:cNvPr id="10" name="файлы БД"/>
          <p:cNvSpPr txBox="1"/>
          <p:nvPr/>
        </p:nvSpPr>
        <p:spPr>
          <a:xfrm>
            <a:off x="457200" y="3840480"/>
            <a:ext cx="4754880" cy="320040"/>
          </a:xfrm>
          <a:prstGeom prst="rect">
            <a:avLst/>
          </a:prstGeom>
          <a:noFill/>
          <a:ln/>
        </p:spPr>
        <p:txBody>
          <a:bodyPr wrap="square" lIns="0" tIns="0" rIns="0" bIns="0" rtlCol="0" anchor="ctr"/>
          <a:lstStyle/>
          <a:p>
            <a:pPr indent="0" marL="0">
              <a:buNone/>
            </a:pPr>
            <a:r>
              <a:rPr lang="en-US" sz="1200" dirty="0">
                <a:solidFill>
                  <a:srgbClr val="6B778A"/>
                </a:solidFill>
              </a:rPr>
              <a:t>db/schema.sql · db/queries.sql</a:t>
            </a:r>
            <a:endParaRPr lang="en-US" sz="1200" dirty="0"/>
          </a:p>
        </p:txBody>
      </p:sp>
      <p:sp>
        <p:nvSpPr>
          <p:cNvPr id="11" name="заголовок запросов"/>
          <p:cNvSpPr txBox="1"/>
          <p:nvPr/>
        </p:nvSpPr>
        <p:spPr>
          <a:xfrm>
            <a:off x="5486400" y="1051560"/>
            <a:ext cx="3200400" cy="320040"/>
          </a:xfrm>
          <a:prstGeom prst="rect">
            <a:avLst/>
          </a:prstGeom>
          <a:noFill/>
          <a:ln/>
        </p:spPr>
        <p:txBody>
          <a:bodyPr wrap="square" lIns="0" tIns="0" rIns="0" bIns="0" rtlCol="0" anchor="ctr"/>
          <a:lstStyle/>
          <a:p>
            <a:pPr indent="0" marL="0">
              <a:buNone/>
            </a:pPr>
            <a:r>
              <a:rPr lang="en-US" sz="1400" b="1" dirty="0">
                <a:solidFill>
                  <a:srgbClr val="0F2747"/>
                </a:solidFill>
              </a:rPr>
              <a:t>Контрольные запросы</a:t>
            </a:r>
            <a:endParaRPr lang="en-US" sz="1400" dirty="0"/>
          </a:p>
        </p:txBody>
      </p:sp>
      <p:sp>
        <p:nvSpPr>
          <p:cNvPr id="12" name="карточка 1. Десять последних показаний"/>
          <p:cNvSpPr/>
          <p:nvPr/>
        </p:nvSpPr>
        <p:spPr>
          <a:xfrm>
            <a:off x="5486400" y="1417320"/>
            <a:ext cx="3200400" cy="658368"/>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3" name="акцент 1. Десять последних показаний"/>
          <p:cNvSpPr/>
          <p:nvPr/>
        </p:nvSpPr>
        <p:spPr>
          <a:xfrm>
            <a:off x="5486400" y="1417320"/>
            <a:ext cx="64008" cy="658368"/>
          </a:xfrm>
          <a:prstGeom prst="rect">
            <a:avLst/>
          </a:prstGeom>
          <a:solidFill>
            <a:srgbClr val="1F6FB2"/>
          </a:solidFill>
          <a:ln w="12700">
            <a:solidFill>
              <a:srgbClr val="1F6FB2"/>
            </a:solidFill>
            <a:prstDash val="solid"/>
          </a:ln>
        </p:spPr>
      </p:sp>
      <p:sp>
        <p:nvSpPr>
          <p:cNvPr id="14" name="текст 1. Десять последних показаний"/>
          <p:cNvSpPr txBox="1"/>
          <p:nvPr/>
        </p:nvSpPr>
        <p:spPr>
          <a:xfrm>
            <a:off x="5669280" y="1463040"/>
            <a:ext cx="2926080" cy="566928"/>
          </a:xfrm>
          <a:prstGeom prst="rect">
            <a:avLst/>
          </a:prstGeom>
          <a:noFill/>
          <a:ln/>
        </p:spPr>
        <p:txBody>
          <a:bodyPr wrap="square" lIns="0" tIns="0" rIns="0" bIns="0" rtlCol="0" anchor="ctr"/>
          <a:lstStyle/>
          <a:p>
            <a:pPr indent="0" marL="0">
              <a:buNone/>
            </a:pPr>
            <a:r>
              <a:rPr lang="en-US" sz="1300" b="1" dirty="0">
                <a:solidFill>
                  <a:srgbClr val="0F2747"/>
                </a:solidFill>
              </a:rPr>
              <a:t>1. Десять последних показаний</a:t>
            </a:r>
            <a:endParaRPr lang="en-US" sz="1300" dirty="0"/>
          </a:p>
        </p:txBody>
      </p:sp>
      <p:sp>
        <p:nvSpPr>
          <p:cNvPr id="15" name="карточка 2. MIN / AVG / MAX по датчикам"/>
          <p:cNvSpPr/>
          <p:nvPr/>
        </p:nvSpPr>
        <p:spPr>
          <a:xfrm>
            <a:off x="5486400" y="2221992"/>
            <a:ext cx="3200400" cy="658368"/>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6" name="акцент 2. MIN / AVG / MAX по датчикам"/>
          <p:cNvSpPr/>
          <p:nvPr/>
        </p:nvSpPr>
        <p:spPr>
          <a:xfrm>
            <a:off x="5486400" y="2221992"/>
            <a:ext cx="64008" cy="658368"/>
          </a:xfrm>
          <a:prstGeom prst="rect">
            <a:avLst/>
          </a:prstGeom>
          <a:solidFill>
            <a:srgbClr val="1F6FB2"/>
          </a:solidFill>
          <a:ln w="12700">
            <a:solidFill>
              <a:srgbClr val="1F6FB2"/>
            </a:solidFill>
            <a:prstDash val="solid"/>
          </a:ln>
        </p:spPr>
      </p:sp>
      <p:sp>
        <p:nvSpPr>
          <p:cNvPr id="17" name="текст 2. MIN / AVG / MAX по датчикам"/>
          <p:cNvSpPr txBox="1"/>
          <p:nvPr/>
        </p:nvSpPr>
        <p:spPr>
          <a:xfrm>
            <a:off x="5669280" y="2267712"/>
            <a:ext cx="2926080" cy="566928"/>
          </a:xfrm>
          <a:prstGeom prst="rect">
            <a:avLst/>
          </a:prstGeom>
          <a:noFill/>
          <a:ln/>
        </p:spPr>
        <p:txBody>
          <a:bodyPr wrap="square" lIns="0" tIns="0" rIns="0" bIns="0" rtlCol="0" anchor="ctr"/>
          <a:lstStyle/>
          <a:p>
            <a:pPr indent="0" marL="0">
              <a:buNone/>
            </a:pPr>
            <a:r>
              <a:rPr lang="en-US" sz="1300" b="1" dirty="0">
                <a:solidFill>
                  <a:srgbClr val="0F2747"/>
                </a:solidFill>
              </a:rPr>
              <a:t>2. MIN / AVG / MAX по датчикам</a:t>
            </a:r>
            <a:endParaRPr lang="en-US" sz="1300" dirty="0"/>
          </a:p>
        </p:txBody>
      </p:sp>
      <p:sp>
        <p:nvSpPr>
          <p:cNvPr id="18" name="карточка 3. Все события по порядку"/>
          <p:cNvSpPr/>
          <p:nvPr/>
        </p:nvSpPr>
        <p:spPr>
          <a:xfrm>
            <a:off x="5486400" y="3026664"/>
            <a:ext cx="3200400" cy="658368"/>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9" name="акцент 3. Все события по порядку"/>
          <p:cNvSpPr/>
          <p:nvPr/>
        </p:nvSpPr>
        <p:spPr>
          <a:xfrm>
            <a:off x="5486400" y="3026664"/>
            <a:ext cx="64008" cy="658368"/>
          </a:xfrm>
          <a:prstGeom prst="rect">
            <a:avLst/>
          </a:prstGeom>
          <a:solidFill>
            <a:srgbClr val="1F6FB2"/>
          </a:solidFill>
          <a:ln w="12700">
            <a:solidFill>
              <a:srgbClr val="1F6FB2"/>
            </a:solidFill>
            <a:prstDash val="solid"/>
          </a:ln>
        </p:spPr>
      </p:sp>
      <p:sp>
        <p:nvSpPr>
          <p:cNvPr id="20" name="текст 3. Все события по порядку"/>
          <p:cNvSpPr txBox="1"/>
          <p:nvPr/>
        </p:nvSpPr>
        <p:spPr>
          <a:xfrm>
            <a:off x="5669280" y="3072384"/>
            <a:ext cx="2926080" cy="566928"/>
          </a:xfrm>
          <a:prstGeom prst="rect">
            <a:avLst/>
          </a:prstGeom>
          <a:noFill/>
          <a:ln/>
        </p:spPr>
        <p:txBody>
          <a:bodyPr wrap="square" lIns="0" tIns="0" rIns="0" bIns="0" rtlCol="0" anchor="ctr"/>
          <a:lstStyle/>
          <a:p>
            <a:pPr indent="0" marL="0">
              <a:buNone/>
            </a:pPr>
            <a:r>
              <a:rPr lang="en-US" sz="1300" b="1" dirty="0">
                <a:solidFill>
                  <a:srgbClr val="0F2747"/>
                </a:solidFill>
              </a:rPr>
              <a:t>3. Все события по порядку</a:t>
            </a:r>
            <a:endParaRPr lang="en-US" sz="1300" dirty="0"/>
          </a:p>
        </p:txBody>
      </p:sp>
      <p:sp>
        <p:nvSpPr>
          <p:cNvPr id="21" name="карточка 4. Число записей в таблицах"/>
          <p:cNvSpPr/>
          <p:nvPr/>
        </p:nvSpPr>
        <p:spPr>
          <a:xfrm>
            <a:off x="5486400" y="3831336"/>
            <a:ext cx="3200400" cy="658368"/>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22" name="акцент 4. Число записей в таблицах"/>
          <p:cNvSpPr/>
          <p:nvPr/>
        </p:nvSpPr>
        <p:spPr>
          <a:xfrm>
            <a:off x="5486400" y="3831336"/>
            <a:ext cx="64008" cy="658368"/>
          </a:xfrm>
          <a:prstGeom prst="rect">
            <a:avLst/>
          </a:prstGeom>
          <a:solidFill>
            <a:srgbClr val="1F6FB2"/>
          </a:solidFill>
          <a:ln w="12700">
            <a:solidFill>
              <a:srgbClr val="1F6FB2"/>
            </a:solidFill>
            <a:prstDash val="solid"/>
          </a:ln>
        </p:spPr>
      </p:sp>
      <p:sp>
        <p:nvSpPr>
          <p:cNvPr id="23" name="текст 4. Число записей в таблицах"/>
          <p:cNvSpPr txBox="1"/>
          <p:nvPr/>
        </p:nvSpPr>
        <p:spPr>
          <a:xfrm>
            <a:off x="5669280" y="3877056"/>
            <a:ext cx="2926080" cy="566928"/>
          </a:xfrm>
          <a:prstGeom prst="rect">
            <a:avLst/>
          </a:prstGeom>
          <a:noFill/>
          <a:ln/>
        </p:spPr>
        <p:txBody>
          <a:bodyPr wrap="square" lIns="0" tIns="0" rIns="0" bIns="0" rtlCol="0" anchor="ctr"/>
          <a:lstStyle/>
          <a:p>
            <a:pPr indent="0" marL="0">
              <a:buNone/>
            </a:pPr>
            <a:r>
              <a:rPr lang="en-US" sz="1300" b="1" dirty="0">
                <a:solidFill>
                  <a:srgbClr val="0F2747"/>
                </a:solidFill>
              </a:rPr>
              <a:t>4. Число записей в таблицах</a:t>
            </a:r>
            <a:endParaRPr lang="en-US" sz="13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10</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Загрузка данных в Node-RED</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Данные</a:t>
            </a:r>
            <a:endParaRPr lang="en-US" sz="1000" dirty="0"/>
          </a:p>
        </p:txBody>
      </p:sp>
      <p:sp>
        <p:nvSpPr>
          <p:cNvPr id="8" name="рамка поток Node-RED"/>
          <p:cNvSpPr/>
          <p:nvPr/>
        </p:nvSpPr>
        <p:spPr>
          <a:xfrm>
            <a:off x="402336" y="1615929"/>
            <a:ext cx="8339328" cy="1248701"/>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9" name="поток Node-RED" descr="Схема потока Node-RED">    </p:cNvPr>
          <p:cNvPicPr>
            <a:picLocks noChangeAspect="1"/>
          </p:cNvPicPr>
          <p:nvPr/>
        </p:nvPicPr>
        <p:blipFill>
          <a:blip r:embed="rId2"/>
          <a:stretch>
            <a:fillRect/>
          </a:stretch>
        </p:blipFill>
        <p:spPr>
          <a:xfrm>
            <a:off x="457200" y="1670793"/>
            <a:ext cx="8229600" cy="1138973"/>
          </a:xfrm>
          <a:prstGeom prst="rect">
            <a:avLst/>
          </a:prstGeom>
        </p:spPr>
      </p:pic>
      <p:sp>
        <p:nvSpPr>
          <p:cNvPr id="10" name="карточка Следит за журналом"/>
          <p:cNvSpPr/>
          <p:nvPr/>
        </p:nvSpPr>
        <p:spPr>
          <a:xfrm>
            <a:off x="457200" y="3291840"/>
            <a:ext cx="2651760" cy="128016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1" name="акцент Следит за журналом"/>
          <p:cNvSpPr/>
          <p:nvPr/>
        </p:nvSpPr>
        <p:spPr>
          <a:xfrm>
            <a:off x="457200" y="3291840"/>
            <a:ext cx="64008" cy="1280160"/>
          </a:xfrm>
          <a:prstGeom prst="rect">
            <a:avLst/>
          </a:prstGeom>
          <a:solidFill>
            <a:srgbClr val="1F6FB2"/>
          </a:solidFill>
          <a:ln w="12700">
            <a:solidFill>
              <a:srgbClr val="1F6FB2"/>
            </a:solidFill>
            <a:prstDash val="solid"/>
          </a:ln>
        </p:spPr>
      </p:sp>
      <p:sp>
        <p:nvSpPr>
          <p:cNvPr id="12" name="текст Следит за журналом"/>
          <p:cNvSpPr txBox="1"/>
          <p:nvPr/>
        </p:nvSpPr>
        <p:spPr>
          <a:xfrm>
            <a:off x="640080" y="3337560"/>
            <a:ext cx="2377440" cy="1188720"/>
          </a:xfrm>
          <a:prstGeom prst="rect">
            <a:avLst/>
          </a:prstGeom>
          <a:noFill/>
          <a:ln/>
        </p:spPr>
        <p:txBody>
          <a:bodyPr wrap="square" lIns="0" tIns="0" rIns="0" bIns="0" rtlCol="0" anchor="ctr"/>
          <a:lstStyle/>
          <a:p>
            <a:pPr indent="0" marL="0">
              <a:buNone/>
            </a:pPr>
            <a:r>
              <a:rPr lang="en-US" sz="1500" b="1" dirty="0">
                <a:solidFill>
                  <a:srgbClr val="0F2747"/>
                </a:solidFill>
              </a:rPr>
              <a:t>Следит за журналом</a:t>
            </a:r>
            <a:endParaRPr lang="en-US" sz="1500" dirty="0"/>
          </a:p>
          <a:p>
            <a:pPr indent="0" marL="0">
              <a:buNone/>
            </a:pPr>
            <a:r>
              <a:rPr lang="en-US" sz="1300" dirty="0">
                <a:solidFill>
                  <a:srgbClr val="1B2433"/>
                </a:solidFill>
              </a:rPr>
              <a:t>сохранил data/log.txt — запуск</a:t>
            </a:r>
            <a:endParaRPr lang="en-US" sz="1500" dirty="0"/>
          </a:p>
        </p:txBody>
      </p:sp>
      <p:sp>
        <p:nvSpPr>
          <p:cNvPr id="13" name="карточка Формирует load.sql"/>
          <p:cNvSpPr/>
          <p:nvPr/>
        </p:nvSpPr>
        <p:spPr>
          <a:xfrm>
            <a:off x="3246120" y="3291840"/>
            <a:ext cx="2651760" cy="128016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4" name="акцент Формирует load.sql"/>
          <p:cNvSpPr/>
          <p:nvPr/>
        </p:nvSpPr>
        <p:spPr>
          <a:xfrm>
            <a:off x="3246120" y="3291840"/>
            <a:ext cx="64008" cy="1280160"/>
          </a:xfrm>
          <a:prstGeom prst="rect">
            <a:avLst/>
          </a:prstGeom>
          <a:solidFill>
            <a:srgbClr val="1F6FB2"/>
          </a:solidFill>
          <a:ln w="12700">
            <a:solidFill>
              <a:srgbClr val="1F6FB2"/>
            </a:solidFill>
            <a:prstDash val="solid"/>
          </a:ln>
        </p:spPr>
      </p:sp>
      <p:sp>
        <p:nvSpPr>
          <p:cNvPr id="15" name="текст Формирует load.sql"/>
          <p:cNvSpPr txBox="1"/>
          <p:nvPr/>
        </p:nvSpPr>
        <p:spPr>
          <a:xfrm>
            <a:off x="3429000" y="3337560"/>
            <a:ext cx="2377440" cy="1188720"/>
          </a:xfrm>
          <a:prstGeom prst="rect">
            <a:avLst/>
          </a:prstGeom>
          <a:noFill/>
          <a:ln/>
        </p:spPr>
        <p:txBody>
          <a:bodyPr wrap="square" lIns="0" tIns="0" rIns="0" bIns="0" rtlCol="0" anchor="ctr"/>
          <a:lstStyle/>
          <a:p>
            <a:pPr indent="0" marL="0">
              <a:buNone/>
            </a:pPr>
            <a:r>
              <a:rPr lang="en-US" sz="1400" b="1" dirty="0">
                <a:solidFill>
                  <a:srgbClr val="0F2747"/>
                </a:solidFill>
              </a:rPr>
              <a:t>Формирует load.sql</a:t>
            </a:r>
            <a:endParaRPr lang="en-US" sz="1400" dirty="0"/>
          </a:p>
          <a:p>
            <a:pPr indent="0" marL="0">
              <a:buNone/>
            </a:pPr>
            <a:r>
              <a:rPr lang="en-US" sz="1200" dirty="0">
                <a:solidFill>
                  <a:srgbClr val="1B2433"/>
                </a:solidFill>
              </a:rPr>
              <a:t>очистка таблиц, затем INSERT</a:t>
            </a:r>
            <a:endParaRPr lang="en-US" sz="1400" dirty="0"/>
          </a:p>
        </p:txBody>
      </p:sp>
      <p:sp>
        <p:nvSpPr>
          <p:cNvPr id="16" name="карточка Контроль диапазонов"/>
          <p:cNvSpPr/>
          <p:nvPr/>
        </p:nvSpPr>
        <p:spPr>
          <a:xfrm>
            <a:off x="6035040" y="3291840"/>
            <a:ext cx="2651760" cy="128016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17" name="акцент Контроль диапазонов"/>
          <p:cNvSpPr/>
          <p:nvPr/>
        </p:nvSpPr>
        <p:spPr>
          <a:xfrm>
            <a:off x="6035040" y="3291840"/>
            <a:ext cx="64008" cy="1280160"/>
          </a:xfrm>
          <a:prstGeom prst="rect">
            <a:avLst/>
          </a:prstGeom>
          <a:solidFill>
            <a:srgbClr val="C9A227"/>
          </a:solidFill>
          <a:ln w="12700">
            <a:solidFill>
              <a:srgbClr val="C9A227"/>
            </a:solidFill>
            <a:prstDash val="solid"/>
          </a:ln>
        </p:spPr>
      </p:sp>
      <p:sp>
        <p:nvSpPr>
          <p:cNvPr id="18" name="текст Контроль диапазонов"/>
          <p:cNvSpPr txBox="1"/>
          <p:nvPr/>
        </p:nvSpPr>
        <p:spPr>
          <a:xfrm>
            <a:off x="6217920" y="3337560"/>
            <a:ext cx="2377440" cy="1188720"/>
          </a:xfrm>
          <a:prstGeom prst="rect">
            <a:avLst/>
          </a:prstGeom>
          <a:noFill/>
          <a:ln/>
        </p:spPr>
        <p:txBody>
          <a:bodyPr wrap="square" lIns="0" tIns="0" rIns="0" bIns="0" rtlCol="0" anchor="ctr"/>
          <a:lstStyle/>
          <a:p>
            <a:pPr indent="0" marL="0">
              <a:buNone/>
            </a:pPr>
            <a:r>
              <a:rPr lang="en-US" sz="1400" b="1" dirty="0">
                <a:solidFill>
                  <a:srgbClr val="C9A227"/>
                </a:solidFill>
              </a:rPr>
              <a:t>Контроль диапазонов</a:t>
            </a:r>
            <a:endParaRPr lang="en-US" sz="1400" dirty="0"/>
          </a:p>
          <a:p>
            <a:pPr indent="0" marL="0">
              <a:buNone/>
            </a:pPr>
            <a:r>
              <a:rPr lang="en-US" sz="1200" dirty="0">
                <a:solidFill>
                  <a:srgbClr val="FFFFFF"/>
                </a:solidFill>
              </a:rPr>
              <a:t>вне диапазона — событие FAULT</a:t>
            </a:r>
            <a:endParaRPr lang="en-US" sz="14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11</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Тестирование и результаты</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Результаты</a:t>
            </a:r>
            <a:endParaRPr lang="en-US" sz="1000" dirty="0"/>
          </a:p>
        </p:txBody>
      </p:sp>
      <p:graphicFrame>
        <p:nvGraphicFramePr>
          <p:cNvPr id="8" name="Chart 0" descr=""/>
          <p:cNvGraphicFramePr/>
          <p:nvPr/>
        </p:nvGraphicFramePr>
        <p:xfrm>
          <a:off x="365760" y="1097280"/>
          <a:ext cx="5394960" cy="3520440"/>
        </p:xfrm>
        <a:graphic xmlns:a="http://schemas.openxmlformats.org/drawingml/2006/main">
          <a:graphicData uri="http://schemas.openxmlformats.org/drawingml/2006/chart">
            <c:chart xmlns:c="http://schemas.openxmlformats.org/drawingml/2006/chart" r:id="rId2"/>
          </a:graphicData>
        </a:graphic>
      </p:graphicFrame>
      <p:sp>
        <p:nvSpPr>
          <p:cNvPr id="9" name="карточка n = 57 · THRESHOLD"/>
          <p:cNvSpPr/>
          <p:nvPr/>
        </p:nvSpPr>
        <p:spPr>
          <a:xfrm>
            <a:off x="5943600" y="1097280"/>
            <a:ext cx="2743200" cy="86868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0" name="акцент n = 57 · THRESHOLD"/>
          <p:cNvSpPr/>
          <p:nvPr/>
        </p:nvSpPr>
        <p:spPr>
          <a:xfrm>
            <a:off x="5943600" y="1097280"/>
            <a:ext cx="64008" cy="868680"/>
          </a:xfrm>
          <a:prstGeom prst="rect">
            <a:avLst/>
          </a:prstGeom>
          <a:solidFill>
            <a:srgbClr val="C9372C"/>
          </a:solidFill>
          <a:ln w="12700">
            <a:solidFill>
              <a:srgbClr val="C9372C"/>
            </a:solidFill>
            <a:prstDash val="solid"/>
          </a:ln>
        </p:spPr>
      </p:sp>
      <p:sp>
        <p:nvSpPr>
          <p:cNvPr id="11" name="текст n = 57 · THRESHOLD"/>
          <p:cNvSpPr txBox="1"/>
          <p:nvPr/>
        </p:nvSpPr>
        <p:spPr>
          <a:xfrm>
            <a:off x="6126480" y="1143000"/>
            <a:ext cx="2468880" cy="777240"/>
          </a:xfrm>
          <a:prstGeom prst="rect">
            <a:avLst/>
          </a:prstGeom>
          <a:noFill/>
          <a:ln/>
        </p:spPr>
        <p:txBody>
          <a:bodyPr wrap="square" lIns="0" tIns="0" rIns="0" bIns="0" rtlCol="0" anchor="ctr"/>
          <a:lstStyle/>
          <a:p>
            <a:pPr indent="0" marL="0">
              <a:buNone/>
            </a:pPr>
            <a:r>
              <a:rPr lang="en-US" sz="1350" b="1" dirty="0">
                <a:solidFill>
                  <a:srgbClr val="0F2747"/>
                </a:solidFill>
              </a:rPr>
              <a:t>n = 57 · THRESHOLD</a:t>
            </a:r>
            <a:endParaRPr lang="en-US" sz="1350" dirty="0"/>
          </a:p>
          <a:p>
            <a:pPr indent="0" marL="0">
              <a:buNone/>
            </a:pPr>
            <a:r>
              <a:rPr lang="en-US" sz="1200" dirty="0">
                <a:solidFill>
                  <a:srgbClr val="1B2433"/>
                </a:solidFill>
              </a:rPr>
              <a:t>дым 38,82 % — вентилятор включён</a:t>
            </a:r>
            <a:endParaRPr lang="en-US" sz="1350" dirty="0"/>
          </a:p>
        </p:txBody>
      </p:sp>
      <p:sp>
        <p:nvSpPr>
          <p:cNvPr id="12" name="карточка n = 78 · NORMAL"/>
          <p:cNvSpPr/>
          <p:nvPr/>
        </p:nvSpPr>
        <p:spPr>
          <a:xfrm>
            <a:off x="5943600" y="2057400"/>
            <a:ext cx="2743200" cy="86868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3" name="акцент n = 78 · NORMAL"/>
          <p:cNvSpPr/>
          <p:nvPr/>
        </p:nvSpPr>
        <p:spPr>
          <a:xfrm>
            <a:off x="5943600" y="2057400"/>
            <a:ext cx="64008" cy="868680"/>
          </a:xfrm>
          <a:prstGeom prst="rect">
            <a:avLst/>
          </a:prstGeom>
          <a:solidFill>
            <a:srgbClr val="2E7D5B"/>
          </a:solidFill>
          <a:ln w="12700">
            <a:solidFill>
              <a:srgbClr val="2E7D5B"/>
            </a:solidFill>
            <a:prstDash val="solid"/>
          </a:ln>
        </p:spPr>
      </p:sp>
      <p:sp>
        <p:nvSpPr>
          <p:cNvPr id="14" name="текст n = 78 · NORMAL"/>
          <p:cNvSpPr txBox="1"/>
          <p:nvPr/>
        </p:nvSpPr>
        <p:spPr>
          <a:xfrm>
            <a:off x="6126480" y="2103120"/>
            <a:ext cx="2468880" cy="777240"/>
          </a:xfrm>
          <a:prstGeom prst="rect">
            <a:avLst/>
          </a:prstGeom>
          <a:noFill/>
          <a:ln/>
        </p:spPr>
        <p:txBody>
          <a:bodyPr wrap="square" lIns="0" tIns="0" rIns="0" bIns="0" rtlCol="0" anchor="ctr"/>
          <a:lstStyle/>
          <a:p>
            <a:pPr indent="0" marL="0">
              <a:buNone/>
            </a:pPr>
            <a:r>
              <a:rPr lang="en-US" sz="1350" b="1" dirty="0">
                <a:solidFill>
                  <a:srgbClr val="0F2747"/>
                </a:solidFill>
              </a:rPr>
              <a:t>n = 78 · NORMAL</a:t>
            </a:r>
            <a:endParaRPr lang="en-US" sz="1350" dirty="0"/>
          </a:p>
          <a:p>
            <a:pPr indent="0" marL="0">
              <a:buNone/>
            </a:pPr>
            <a:r>
              <a:rPr lang="en-US" sz="1200" dirty="0">
                <a:solidFill>
                  <a:srgbClr val="1B2433"/>
                </a:solidFill>
              </a:rPr>
              <a:t>дым 0,00 % — вентилятор выключен</a:t>
            </a:r>
            <a:endParaRPr lang="en-US" sz="1350" dirty="0"/>
          </a:p>
        </p:txBody>
      </p:sp>
      <p:sp>
        <p:nvSpPr>
          <p:cNvPr id="15" name="карточка FAULT"/>
          <p:cNvSpPr/>
          <p:nvPr/>
        </p:nvSpPr>
        <p:spPr>
          <a:xfrm>
            <a:off x="5943600" y="3017520"/>
            <a:ext cx="2743200" cy="86868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6" name="акцент FAULT"/>
          <p:cNvSpPr/>
          <p:nvPr/>
        </p:nvSpPr>
        <p:spPr>
          <a:xfrm>
            <a:off x="5943600" y="3017520"/>
            <a:ext cx="64008" cy="868680"/>
          </a:xfrm>
          <a:prstGeom prst="rect">
            <a:avLst/>
          </a:prstGeom>
          <a:solidFill>
            <a:srgbClr val="C9A227"/>
          </a:solidFill>
          <a:ln w="12700">
            <a:solidFill>
              <a:srgbClr val="C9A227"/>
            </a:solidFill>
            <a:prstDash val="solid"/>
          </a:ln>
        </p:spPr>
      </p:sp>
      <p:sp>
        <p:nvSpPr>
          <p:cNvPr id="17" name="текст FAULT"/>
          <p:cNvSpPr txBox="1"/>
          <p:nvPr/>
        </p:nvSpPr>
        <p:spPr>
          <a:xfrm>
            <a:off x="6126480" y="3063240"/>
            <a:ext cx="2468880" cy="777240"/>
          </a:xfrm>
          <a:prstGeom prst="rect">
            <a:avLst/>
          </a:prstGeom>
          <a:noFill/>
          <a:ln/>
        </p:spPr>
        <p:txBody>
          <a:bodyPr wrap="square" lIns="0" tIns="0" rIns="0" bIns="0" rtlCol="0" anchor="ctr"/>
          <a:lstStyle/>
          <a:p>
            <a:pPr indent="0" marL="0">
              <a:buNone/>
            </a:pPr>
            <a:r>
              <a:rPr lang="en-US" sz="1350" b="1" dirty="0">
                <a:solidFill>
                  <a:srgbClr val="0F2747"/>
                </a:solidFill>
              </a:rPr>
              <a:t>FAULT</a:t>
            </a:r>
            <a:endParaRPr lang="en-US" sz="1350" dirty="0"/>
          </a:p>
          <a:p>
            <a:pPr indent="0" marL="0">
              <a:buNone/>
            </a:pPr>
            <a:r>
              <a:rPr lang="en-US" sz="1200" dirty="0">
                <a:solidFill>
                  <a:srgbClr val="1B2433"/>
                </a:solidFill>
              </a:rPr>
              <a:t>s1 = 999 — датчик вне диапазона</a:t>
            </a:r>
            <a:endParaRPr lang="en-US" sz="1350" dirty="0"/>
          </a:p>
        </p:txBody>
      </p:sp>
      <p:sp>
        <p:nvSpPr>
          <p:cNvPr id="18" name="карточка 273 показания · 4 события"/>
          <p:cNvSpPr/>
          <p:nvPr/>
        </p:nvSpPr>
        <p:spPr>
          <a:xfrm>
            <a:off x="5943600" y="3977640"/>
            <a:ext cx="2743200" cy="68580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19" name="акцент 273 показания · 4 события"/>
          <p:cNvSpPr/>
          <p:nvPr/>
        </p:nvSpPr>
        <p:spPr>
          <a:xfrm>
            <a:off x="5943600" y="3977640"/>
            <a:ext cx="64008" cy="685800"/>
          </a:xfrm>
          <a:prstGeom prst="rect">
            <a:avLst/>
          </a:prstGeom>
          <a:solidFill>
            <a:srgbClr val="C9A227"/>
          </a:solidFill>
          <a:ln w="12700">
            <a:solidFill>
              <a:srgbClr val="C9A227"/>
            </a:solidFill>
            <a:prstDash val="solid"/>
          </a:ln>
        </p:spPr>
      </p:sp>
      <p:sp>
        <p:nvSpPr>
          <p:cNvPr id="20" name="текст 273 показания · 4 события"/>
          <p:cNvSpPr txBox="1"/>
          <p:nvPr/>
        </p:nvSpPr>
        <p:spPr>
          <a:xfrm>
            <a:off x="6126480" y="4023360"/>
            <a:ext cx="2468880" cy="594360"/>
          </a:xfrm>
          <a:prstGeom prst="rect">
            <a:avLst/>
          </a:prstGeom>
          <a:noFill/>
          <a:ln/>
        </p:spPr>
        <p:txBody>
          <a:bodyPr wrap="square" lIns="0" tIns="0" rIns="0" bIns="0" rtlCol="0" anchor="ctr"/>
          <a:lstStyle/>
          <a:p>
            <a:pPr indent="0" marL="0">
              <a:buNone/>
            </a:pPr>
            <a:r>
              <a:rPr lang="en-US" sz="1250" b="1" dirty="0">
                <a:solidFill>
                  <a:srgbClr val="C9A227"/>
                </a:solidFill>
              </a:rPr>
              <a:t>273 показания · 4 события</a:t>
            </a:r>
            <a:endParaRPr lang="en-US" sz="1250" dirty="0"/>
          </a:p>
          <a:p>
            <a:pPr indent="0" marL="0">
              <a:buNone/>
            </a:pPr>
            <a:r>
              <a:rPr lang="en-US" sz="1100" dirty="0">
                <a:solidFill>
                  <a:srgbClr val="FFFFFF"/>
                </a:solidFill>
              </a:rPr>
              <a:t>повторная загрузка без дублей</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12</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Объём данных и Git</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Итоги</a:t>
            </a:r>
            <a:endParaRPr lang="en-US" sz="1000" dirty="0"/>
          </a:p>
        </p:txBody>
      </p:sp>
      <p:sp>
        <p:nvSpPr>
          <p:cNvPr id="8" name="заголовок объёма"/>
          <p:cNvSpPr txBox="1"/>
          <p:nvPr/>
        </p:nvSpPr>
        <p:spPr>
          <a:xfrm>
            <a:off x="457200" y="1024128"/>
            <a:ext cx="4023360" cy="274320"/>
          </a:xfrm>
          <a:prstGeom prst="rect">
            <a:avLst/>
          </a:prstGeom>
          <a:noFill/>
          <a:ln/>
        </p:spPr>
        <p:txBody>
          <a:bodyPr wrap="square" lIns="0" tIns="0" rIns="0" bIns="0" rtlCol="0" anchor="ctr"/>
          <a:lstStyle/>
          <a:p>
            <a:pPr indent="0" marL="0">
              <a:buNone/>
            </a:pPr>
            <a:r>
              <a:rPr lang="en-US" sz="1300" b="1" dirty="0">
                <a:solidFill>
                  <a:srgbClr val="0F2747"/>
                </a:solidFill>
              </a:rPr>
              <a:t>Расчёт для непрерывной работы</a:t>
            </a:r>
            <a:endParaRPr lang="en-US" sz="1300" dirty="0"/>
          </a:p>
        </p:txBody>
      </p:sp>
      <p:sp>
        <p:nvSpPr>
          <p:cNvPr id="9" name="плитка записей в сутки"/>
          <p:cNvSpPr/>
          <p:nvPr/>
        </p:nvSpPr>
        <p:spPr>
          <a:xfrm>
            <a:off x="457200" y="1371600"/>
            <a:ext cx="1920240" cy="1097280"/>
          </a:xfrm>
          <a:prstGeom prst="rect">
            <a:avLst/>
          </a:prstGeom>
          <a:solidFill>
            <a:srgbClr val="F3F6FA"/>
          </a:solidFill>
          <a:ln w="9525">
            <a:solidFill>
              <a:srgbClr val="D3DCE8"/>
            </a:solidFill>
            <a:prstDash val="solid"/>
          </a:ln>
        </p:spPr>
      </p:sp>
      <p:sp>
        <p:nvSpPr>
          <p:cNvPr id="10" name="величина записей в сутки"/>
          <p:cNvSpPr txBox="1"/>
          <p:nvPr/>
        </p:nvSpPr>
        <p:spPr>
          <a:xfrm>
            <a:off x="457200" y="1463040"/>
            <a:ext cx="1920240" cy="594360"/>
          </a:xfrm>
          <a:prstGeom prst="rect">
            <a:avLst/>
          </a:prstGeom>
          <a:noFill/>
          <a:ln/>
        </p:spPr>
        <p:txBody>
          <a:bodyPr wrap="square" lIns="0" tIns="0" rIns="0" bIns="0" rtlCol="0" anchor="ctr"/>
          <a:lstStyle/>
          <a:p>
            <a:pPr algn="ctr" indent="0" marL="0">
              <a:buNone/>
            </a:pPr>
            <a:r>
              <a:rPr lang="en-US" sz="2400" b="1" dirty="0">
                <a:solidFill>
                  <a:srgbClr val="1F6FB2"/>
                </a:solidFill>
                <a:latin typeface="Cambria" pitchFamily="34" charset="0"/>
                <a:ea typeface="Cambria" pitchFamily="34" charset="-122"/>
                <a:cs typeface="Cambria" pitchFamily="34" charset="-120"/>
              </a:rPr>
              <a:t>259 200</a:t>
            </a:r>
            <a:endParaRPr lang="en-US" sz="2400" dirty="0"/>
          </a:p>
        </p:txBody>
      </p:sp>
      <p:sp>
        <p:nvSpPr>
          <p:cNvPr id="11" name="единица записей в сутки"/>
          <p:cNvSpPr txBox="1"/>
          <p:nvPr/>
        </p:nvSpPr>
        <p:spPr>
          <a:xfrm>
            <a:off x="457200" y="2057400"/>
            <a:ext cx="1920240" cy="320040"/>
          </a:xfrm>
          <a:prstGeom prst="rect">
            <a:avLst/>
          </a:prstGeom>
          <a:noFill/>
          <a:ln/>
        </p:spPr>
        <p:txBody>
          <a:bodyPr wrap="square" lIns="0" tIns="0" rIns="0" bIns="0" rtlCol="0" anchor="t"/>
          <a:lstStyle/>
          <a:p>
            <a:pPr algn="ctr" indent="0" marL="0">
              <a:buNone/>
            </a:pPr>
            <a:r>
              <a:rPr lang="en-US" sz="1200" dirty="0">
                <a:solidFill>
                  <a:srgbClr val="1B2433"/>
                </a:solidFill>
              </a:rPr>
              <a:t>записей в сутки</a:t>
            </a:r>
            <a:endParaRPr lang="en-US" sz="1200" dirty="0"/>
          </a:p>
        </p:txBody>
      </p:sp>
      <p:sp>
        <p:nvSpPr>
          <p:cNvPr id="12" name="плитка база за сутки"/>
          <p:cNvSpPr/>
          <p:nvPr/>
        </p:nvSpPr>
        <p:spPr>
          <a:xfrm>
            <a:off x="2514600" y="1371600"/>
            <a:ext cx="1920240" cy="1097280"/>
          </a:xfrm>
          <a:prstGeom prst="rect">
            <a:avLst/>
          </a:prstGeom>
          <a:solidFill>
            <a:srgbClr val="F3F6FA"/>
          </a:solidFill>
          <a:ln w="9525">
            <a:solidFill>
              <a:srgbClr val="D3DCE8"/>
            </a:solidFill>
            <a:prstDash val="solid"/>
          </a:ln>
        </p:spPr>
      </p:sp>
      <p:sp>
        <p:nvSpPr>
          <p:cNvPr id="13" name="величина база за сутки"/>
          <p:cNvSpPr txBox="1"/>
          <p:nvPr/>
        </p:nvSpPr>
        <p:spPr>
          <a:xfrm>
            <a:off x="2514600" y="1463040"/>
            <a:ext cx="1920240" cy="594360"/>
          </a:xfrm>
          <a:prstGeom prst="rect">
            <a:avLst/>
          </a:prstGeom>
          <a:noFill/>
          <a:ln/>
        </p:spPr>
        <p:txBody>
          <a:bodyPr wrap="square" lIns="0" tIns="0" rIns="0" bIns="0" rtlCol="0" anchor="ctr"/>
          <a:lstStyle/>
          <a:p>
            <a:pPr algn="ctr" indent="0" marL="0">
              <a:buNone/>
            </a:pPr>
            <a:r>
              <a:rPr lang="en-US" sz="2400" b="1" dirty="0">
                <a:solidFill>
                  <a:srgbClr val="1F6FB2"/>
                </a:solidFill>
                <a:latin typeface="Cambria" pitchFamily="34" charset="0"/>
                <a:ea typeface="Cambria" pitchFamily="34" charset="-122"/>
                <a:cs typeface="Cambria" pitchFamily="34" charset="-120"/>
              </a:rPr>
              <a:t>10,4 МБ</a:t>
            </a:r>
            <a:endParaRPr lang="en-US" sz="2400" dirty="0"/>
          </a:p>
        </p:txBody>
      </p:sp>
      <p:sp>
        <p:nvSpPr>
          <p:cNvPr id="14" name="единица база за сутки"/>
          <p:cNvSpPr txBox="1"/>
          <p:nvPr/>
        </p:nvSpPr>
        <p:spPr>
          <a:xfrm>
            <a:off x="2514600" y="2057400"/>
            <a:ext cx="1920240" cy="320040"/>
          </a:xfrm>
          <a:prstGeom prst="rect">
            <a:avLst/>
          </a:prstGeom>
          <a:noFill/>
          <a:ln/>
        </p:spPr>
        <p:txBody>
          <a:bodyPr wrap="square" lIns="0" tIns="0" rIns="0" bIns="0" rtlCol="0" anchor="t"/>
          <a:lstStyle/>
          <a:p>
            <a:pPr algn="ctr" indent="0" marL="0">
              <a:buNone/>
            </a:pPr>
            <a:r>
              <a:rPr lang="en-US" sz="1200" dirty="0">
                <a:solidFill>
                  <a:srgbClr val="1B2433"/>
                </a:solidFill>
              </a:rPr>
              <a:t>база за сутки</a:t>
            </a:r>
            <a:endParaRPr lang="en-US" sz="1200" dirty="0"/>
          </a:p>
        </p:txBody>
      </p:sp>
      <p:sp>
        <p:nvSpPr>
          <p:cNvPr id="15" name="плитка за 30 суток"/>
          <p:cNvSpPr/>
          <p:nvPr/>
        </p:nvSpPr>
        <p:spPr>
          <a:xfrm>
            <a:off x="457200" y="2606040"/>
            <a:ext cx="1920240" cy="1097280"/>
          </a:xfrm>
          <a:prstGeom prst="rect">
            <a:avLst/>
          </a:prstGeom>
          <a:solidFill>
            <a:srgbClr val="F3F6FA"/>
          </a:solidFill>
          <a:ln w="9525">
            <a:solidFill>
              <a:srgbClr val="D3DCE8"/>
            </a:solidFill>
            <a:prstDash val="solid"/>
          </a:ln>
        </p:spPr>
      </p:sp>
      <p:sp>
        <p:nvSpPr>
          <p:cNvPr id="16" name="величина за 30 суток"/>
          <p:cNvSpPr txBox="1"/>
          <p:nvPr/>
        </p:nvSpPr>
        <p:spPr>
          <a:xfrm>
            <a:off x="457200" y="2697480"/>
            <a:ext cx="1920240" cy="594360"/>
          </a:xfrm>
          <a:prstGeom prst="rect">
            <a:avLst/>
          </a:prstGeom>
          <a:noFill/>
          <a:ln/>
        </p:spPr>
        <p:txBody>
          <a:bodyPr wrap="square" lIns="0" tIns="0" rIns="0" bIns="0" rtlCol="0" anchor="ctr"/>
          <a:lstStyle/>
          <a:p>
            <a:pPr algn="ctr" indent="0" marL="0">
              <a:buNone/>
            </a:pPr>
            <a:r>
              <a:rPr lang="en-US" sz="2400" b="1" dirty="0">
                <a:solidFill>
                  <a:srgbClr val="1F6FB2"/>
                </a:solidFill>
                <a:latin typeface="Cambria" pitchFamily="34" charset="0"/>
                <a:ea typeface="Cambria" pitchFamily="34" charset="-122"/>
                <a:cs typeface="Cambria" pitchFamily="34" charset="-120"/>
              </a:rPr>
              <a:t>≈ 311 МБ</a:t>
            </a:r>
            <a:endParaRPr lang="en-US" sz="2400" dirty="0"/>
          </a:p>
        </p:txBody>
      </p:sp>
      <p:sp>
        <p:nvSpPr>
          <p:cNvPr id="17" name="единица за 30 суток"/>
          <p:cNvSpPr txBox="1"/>
          <p:nvPr/>
        </p:nvSpPr>
        <p:spPr>
          <a:xfrm>
            <a:off x="457200" y="3291840"/>
            <a:ext cx="1920240" cy="320040"/>
          </a:xfrm>
          <a:prstGeom prst="rect">
            <a:avLst/>
          </a:prstGeom>
          <a:noFill/>
          <a:ln/>
        </p:spPr>
        <p:txBody>
          <a:bodyPr wrap="square" lIns="0" tIns="0" rIns="0" bIns="0" rtlCol="0" anchor="t"/>
          <a:lstStyle/>
          <a:p>
            <a:pPr algn="ctr" indent="0" marL="0">
              <a:buNone/>
            </a:pPr>
            <a:r>
              <a:rPr lang="en-US" sz="1200" dirty="0">
                <a:solidFill>
                  <a:srgbClr val="1B2433"/>
                </a:solidFill>
              </a:rPr>
              <a:t>за 30 суток</a:t>
            </a:r>
            <a:endParaRPr lang="en-US" sz="1200" dirty="0"/>
          </a:p>
        </p:txBody>
      </p:sp>
      <p:sp>
        <p:nvSpPr>
          <p:cNvPr id="18" name="плитка за год"/>
          <p:cNvSpPr/>
          <p:nvPr/>
        </p:nvSpPr>
        <p:spPr>
          <a:xfrm>
            <a:off x="2514600" y="2606040"/>
            <a:ext cx="1920240" cy="1097280"/>
          </a:xfrm>
          <a:prstGeom prst="rect">
            <a:avLst/>
          </a:prstGeom>
          <a:solidFill>
            <a:srgbClr val="F3F6FA"/>
          </a:solidFill>
          <a:ln w="9525">
            <a:solidFill>
              <a:srgbClr val="D3DCE8"/>
            </a:solidFill>
            <a:prstDash val="solid"/>
          </a:ln>
        </p:spPr>
      </p:sp>
      <p:sp>
        <p:nvSpPr>
          <p:cNvPr id="19" name="величина за год"/>
          <p:cNvSpPr txBox="1"/>
          <p:nvPr/>
        </p:nvSpPr>
        <p:spPr>
          <a:xfrm>
            <a:off x="2514600" y="2697480"/>
            <a:ext cx="1920240" cy="594360"/>
          </a:xfrm>
          <a:prstGeom prst="rect">
            <a:avLst/>
          </a:prstGeom>
          <a:noFill/>
          <a:ln/>
        </p:spPr>
        <p:txBody>
          <a:bodyPr wrap="square" lIns="0" tIns="0" rIns="0" bIns="0" rtlCol="0" anchor="ctr"/>
          <a:lstStyle/>
          <a:p>
            <a:pPr algn="ctr" indent="0" marL="0">
              <a:buNone/>
            </a:pPr>
            <a:r>
              <a:rPr lang="en-US" sz="2400" b="1" dirty="0">
                <a:solidFill>
                  <a:srgbClr val="1F6FB2"/>
                </a:solidFill>
                <a:latin typeface="Cambria" pitchFamily="34" charset="0"/>
                <a:ea typeface="Cambria" pitchFamily="34" charset="-122"/>
                <a:cs typeface="Cambria" pitchFamily="34" charset="-120"/>
              </a:rPr>
              <a:t>≈ 3,8 ГБ</a:t>
            </a:r>
            <a:endParaRPr lang="en-US" sz="2400" dirty="0"/>
          </a:p>
        </p:txBody>
      </p:sp>
      <p:sp>
        <p:nvSpPr>
          <p:cNvPr id="20" name="единица за год"/>
          <p:cNvSpPr txBox="1"/>
          <p:nvPr/>
        </p:nvSpPr>
        <p:spPr>
          <a:xfrm>
            <a:off x="2514600" y="3291840"/>
            <a:ext cx="1920240" cy="320040"/>
          </a:xfrm>
          <a:prstGeom prst="rect">
            <a:avLst/>
          </a:prstGeom>
          <a:noFill/>
          <a:ln/>
        </p:spPr>
        <p:txBody>
          <a:bodyPr wrap="square" lIns="0" tIns="0" rIns="0" bIns="0" rtlCol="0" anchor="t"/>
          <a:lstStyle/>
          <a:p>
            <a:pPr algn="ctr" indent="0" marL="0">
              <a:buNone/>
            </a:pPr>
            <a:r>
              <a:rPr lang="en-US" sz="1200" dirty="0">
                <a:solidFill>
                  <a:srgbClr val="1B2433"/>
                </a:solidFill>
              </a:rPr>
              <a:t>за год</a:t>
            </a:r>
            <a:endParaRPr lang="en-US" sz="1200" dirty="0"/>
          </a:p>
        </p:txBody>
      </p:sp>
      <p:sp>
        <p:nvSpPr>
          <p:cNvPr id="21" name="допущение объёма"/>
          <p:cNvSpPr txBox="1"/>
          <p:nvPr/>
        </p:nvSpPr>
        <p:spPr>
          <a:xfrm>
            <a:off x="457200" y="3886200"/>
            <a:ext cx="4023360" cy="274320"/>
          </a:xfrm>
          <a:prstGeom prst="rect">
            <a:avLst/>
          </a:prstGeom>
          <a:noFill/>
          <a:ln/>
        </p:spPr>
        <p:txBody>
          <a:bodyPr wrap="square" lIns="0" tIns="0" rIns="0" bIns="0" rtlCol="0" anchor="ctr"/>
          <a:lstStyle/>
          <a:p>
            <a:pPr indent="0" marL="0">
              <a:buNone/>
            </a:pPr>
            <a:r>
              <a:rPr lang="en-US" sz="1100" i="1" dirty="0">
                <a:solidFill>
                  <a:srgbClr val="6B778A"/>
                </a:solidFill>
              </a:rPr>
              <a:t>40 Б на запись, 3 датчика, T = 1 с</a:t>
            </a:r>
            <a:endParaRPr lang="en-US" sz="1100" dirty="0"/>
          </a:p>
        </p:txBody>
      </p:sp>
      <p:sp>
        <p:nvSpPr>
          <p:cNvPr id="22" name="заголовок Git"/>
          <p:cNvSpPr txBox="1"/>
          <p:nvPr/>
        </p:nvSpPr>
        <p:spPr>
          <a:xfrm>
            <a:off x="4754880" y="1024128"/>
            <a:ext cx="3931920" cy="274320"/>
          </a:xfrm>
          <a:prstGeom prst="rect">
            <a:avLst/>
          </a:prstGeom>
          <a:noFill/>
          <a:ln/>
        </p:spPr>
        <p:txBody>
          <a:bodyPr wrap="square" lIns="0" tIns="0" rIns="0" bIns="0" rtlCol="0" anchor="ctr"/>
          <a:lstStyle/>
          <a:p>
            <a:pPr indent="0" marL="0">
              <a:buNone/>
            </a:pPr>
            <a:r>
              <a:rPr lang="en-US" sz="1300" b="1" dirty="0">
                <a:solidFill>
                  <a:srgbClr val="0F2747"/>
                </a:solidFill>
              </a:rPr>
              <a:t>Управление версиями</a:t>
            </a:r>
            <a:endParaRPr lang="en-US" sz="1300" dirty="0"/>
          </a:p>
        </p:txBody>
      </p:sp>
      <p:sp>
        <p:nvSpPr>
          <p:cNvPr id="23" name="рамка история коммитов"/>
          <p:cNvSpPr/>
          <p:nvPr/>
        </p:nvSpPr>
        <p:spPr>
          <a:xfrm>
            <a:off x="4700016" y="1327317"/>
            <a:ext cx="4041648" cy="1323006"/>
          </a:xfrm>
          <a:prstGeom prst="rect">
            <a:avLst/>
          </a:prstGeom>
          <a:solidFill>
            <a:srgbClr val="FFFFFF"/>
          </a:solidFill>
          <a:ln w="12700">
            <a:solidFill>
              <a:srgbClr val="D3DCE8"/>
            </a:solidFill>
            <a:prstDash val="solid"/>
          </a:ln>
          <a:effectLst>
            <a:outerShdw sx="100000" sy="100000" kx="0" ky="0" algn="bl" rotWithShape="0" blurRad="76200" dist="25400" dir="5400000">
              <a:srgbClr val="000000">
                <a:alpha val="12000"/>
              </a:srgbClr>
            </a:outerShdw>
          </a:effectLst>
        </p:spPr>
      </p:sp>
      <p:pic>
        <p:nvPicPr>
          <p:cNvPr id="24" name="история коммитов" descr="Вывод git log --oneline">    </p:cNvPr>
          <p:cNvPicPr>
            <a:picLocks noChangeAspect="1"/>
          </p:cNvPicPr>
          <p:nvPr/>
        </p:nvPicPr>
        <p:blipFill>
          <a:blip r:embed="rId2"/>
          <a:stretch>
            <a:fillRect/>
          </a:stretch>
        </p:blipFill>
        <p:spPr>
          <a:xfrm>
            <a:off x="4754880" y="1382181"/>
            <a:ext cx="3931920" cy="1213278"/>
          </a:xfrm>
          <a:prstGeom prst="rect">
            <a:avLst/>
          </a:prstGeom>
        </p:spPr>
      </p:pic>
      <p:sp>
        <p:nvSpPr>
          <p:cNvPr id="25" name="дерево репозитория"/>
          <p:cNvSpPr txBox="1"/>
          <p:nvPr/>
        </p:nvSpPr>
        <p:spPr>
          <a:xfrm>
            <a:off x="4754880" y="2743200"/>
            <a:ext cx="3931920" cy="1417320"/>
          </a:xfrm>
          <a:prstGeom prst="rect">
            <a:avLst/>
          </a:prstGeom>
          <a:noFill/>
          <a:ln/>
        </p:spPr>
        <p:txBody>
          <a:bodyPr wrap="square" lIns="0" tIns="0" rIns="0" bIns="0" rtlCol="0" anchor="t"/>
          <a:lstStyle/>
          <a:p>
            <a:pPr indent="0" marL="0">
              <a:buNone/>
            </a:pPr>
            <a:r>
              <a:rPr lang="en-US" sz="1150" dirty="0">
                <a:solidFill>
                  <a:srgbClr val="1B2433"/>
                </a:solidFill>
                <a:latin typeface="Courier New" pitchFamily="34" charset="0"/>
                <a:ea typeface="Courier New" pitchFamily="34" charset="-122"/>
                <a:cs typeface="Courier New" pitchFamily="34" charset="-120"/>
              </a:rPr>
              <a:t>kyrsovaya21/</a:t>
            </a:r>
            <a:endParaRPr lang="en-US" sz="1150" dirty="0"/>
          </a:p>
          <a:p>
            <a:pPr indent="0" marL="0">
              <a:buNone/>
            </a:pPr>
            <a:r>
              <a:rPr lang="en-US" sz="1150" dirty="0">
                <a:solidFill>
                  <a:srgbClr val="1B2433"/>
                </a:solidFill>
                <a:latin typeface="Courier New" pitchFamily="34" charset="0"/>
                <a:ea typeface="Courier New" pitchFamily="34" charset="-122"/>
                <a:cs typeface="Courier New" pitchFamily="34" charset="-120"/>
              </a:rPr>
              <a:t>├ firmware/  скетч Arduino</a:t>
            </a:r>
            <a:endParaRPr lang="en-US" sz="1150" dirty="0"/>
          </a:p>
          <a:p>
            <a:pPr indent="0" marL="0">
              <a:buNone/>
            </a:pPr>
            <a:r>
              <a:rPr lang="en-US" sz="1150" dirty="0">
                <a:solidFill>
                  <a:srgbClr val="1B2433"/>
                </a:solidFill>
                <a:latin typeface="Courier New" pitchFamily="34" charset="0"/>
                <a:ea typeface="Courier New" pitchFamily="34" charset="-122"/>
                <a:cs typeface="Courier New" pitchFamily="34" charset="-120"/>
              </a:rPr>
              <a:t>├ sim/  проект Wokwi</a:t>
            </a:r>
            <a:endParaRPr lang="en-US" sz="1150" dirty="0"/>
          </a:p>
          <a:p>
            <a:pPr indent="0" marL="0">
              <a:buNone/>
            </a:pPr>
            <a:r>
              <a:rPr lang="en-US" sz="1150" dirty="0">
                <a:solidFill>
                  <a:srgbClr val="1B2433"/>
                </a:solidFill>
                <a:latin typeface="Courier New" pitchFamily="34" charset="0"/>
                <a:ea typeface="Courier New" pitchFamily="34" charset="-122"/>
                <a:cs typeface="Courier New" pitchFamily="34" charset="-120"/>
              </a:rPr>
              <a:t>├ db/  schema.sql, queries.sql</a:t>
            </a:r>
            <a:endParaRPr lang="en-US" sz="1150" dirty="0"/>
          </a:p>
          <a:p>
            <a:pPr indent="0" marL="0">
              <a:buNone/>
            </a:pPr>
            <a:r>
              <a:rPr lang="en-US" sz="1150" dirty="0">
                <a:solidFill>
                  <a:srgbClr val="1B2433"/>
                </a:solidFill>
                <a:latin typeface="Courier New" pitchFamily="34" charset="0"/>
                <a:ea typeface="Courier New" pitchFamily="34" charset="-122"/>
                <a:cs typeface="Courier New" pitchFamily="34" charset="-120"/>
              </a:rPr>
              <a:t>├ nodered/  flow.json</a:t>
            </a:r>
            <a:endParaRPr lang="en-US" sz="1150" dirty="0"/>
          </a:p>
          <a:p>
            <a:pPr indent="0" marL="0">
              <a:buNone/>
            </a:pPr>
            <a:r>
              <a:rPr lang="en-US" sz="1150" dirty="0">
                <a:solidFill>
                  <a:srgbClr val="1B2433"/>
                </a:solidFill>
                <a:latin typeface="Courier New" pitchFamily="34" charset="0"/>
                <a:ea typeface="Courier New" pitchFamily="34" charset="-122"/>
                <a:cs typeface="Courier New" pitchFamily="34" charset="-120"/>
              </a:rPr>
              <a:t>├ data/  журналы</a:t>
            </a:r>
            <a:endParaRPr lang="en-US" sz="1150" dirty="0"/>
          </a:p>
          <a:p>
            <a:pPr indent="0" marL="0">
              <a:buNone/>
            </a:pPr>
            <a:r>
              <a:rPr lang="en-US" sz="1150" dirty="0">
                <a:solidFill>
                  <a:srgbClr val="1B2433"/>
                </a:solidFill>
                <a:latin typeface="Courier New" pitchFamily="34" charset="0"/>
                <a:ea typeface="Courier New" pitchFamily="34" charset="-122"/>
                <a:cs typeface="Courier New" pitchFamily="34" charset="-120"/>
              </a:rPr>
              <a:t>└ docs/  схемы и записка</a:t>
            </a:r>
            <a:endParaRPr lang="en-US" sz="1150" dirty="0"/>
          </a:p>
        </p:txBody>
      </p:sp>
      <p:sp>
        <p:nvSpPr>
          <p:cNvPr id="26" name="карточка 5 коммитов по этапам · метка v1.0 · github.com/volan11/kyrsovaya21"/>
          <p:cNvSpPr/>
          <p:nvPr/>
        </p:nvSpPr>
        <p:spPr>
          <a:xfrm>
            <a:off x="457200" y="4224528"/>
            <a:ext cx="8229600" cy="45720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27" name="акцент 5 коммитов по этапам · метка v1.0 · github.com/volan11/kyrsovaya21"/>
          <p:cNvSpPr/>
          <p:nvPr/>
        </p:nvSpPr>
        <p:spPr>
          <a:xfrm>
            <a:off x="457200" y="4224528"/>
            <a:ext cx="64008" cy="457200"/>
          </a:xfrm>
          <a:prstGeom prst="rect">
            <a:avLst/>
          </a:prstGeom>
          <a:solidFill>
            <a:srgbClr val="C9A227"/>
          </a:solidFill>
          <a:ln w="12700">
            <a:solidFill>
              <a:srgbClr val="C9A227"/>
            </a:solidFill>
            <a:prstDash val="solid"/>
          </a:ln>
        </p:spPr>
      </p:sp>
      <p:sp>
        <p:nvSpPr>
          <p:cNvPr id="28" name="текст 5 коммитов по этапам · метка v1.0 · github.com/volan11/kyrsovaya21"/>
          <p:cNvSpPr txBox="1"/>
          <p:nvPr/>
        </p:nvSpPr>
        <p:spPr>
          <a:xfrm>
            <a:off x="640080" y="4270248"/>
            <a:ext cx="7955280" cy="365760"/>
          </a:xfrm>
          <a:prstGeom prst="rect">
            <a:avLst/>
          </a:prstGeom>
          <a:noFill/>
          <a:ln/>
        </p:spPr>
        <p:txBody>
          <a:bodyPr wrap="square" lIns="0" tIns="0" rIns="0" bIns="0" rtlCol="0" anchor="ctr"/>
          <a:lstStyle/>
          <a:p>
            <a:pPr indent="0" marL="0">
              <a:buNone/>
            </a:pPr>
            <a:r>
              <a:rPr lang="en-US" sz="1300" b="1" dirty="0">
                <a:solidFill>
                  <a:srgbClr val="C9A227"/>
                </a:solidFill>
              </a:rPr>
              <a:t>5 коммитов по этапам · метка v1.0 · github.com/volan11/kyrsovaya21</a:t>
            </a:r>
            <a:endParaRPr lang="en-US" sz="13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номер раздела"/>
          <p:cNvSpPr/>
          <p:nvPr/>
        </p:nvSpPr>
        <p:spPr>
          <a:xfrm>
            <a:off x="457200" y="201168"/>
            <a:ext cx="502920" cy="475488"/>
          </a:xfrm>
          <a:prstGeom prst="rect">
            <a:avLst/>
          </a:prstGeom>
          <a:solidFill>
            <a:srgbClr val="C9A227"/>
          </a:solidFill>
          <a:ln w="12700">
            <a:solidFill>
              <a:srgbClr val="C9A227"/>
            </a:solidFill>
            <a:prstDash val="solid"/>
          </a:ln>
        </p:spPr>
      </p:sp>
      <p:sp>
        <p:nvSpPr>
          <p:cNvPr id="4" name="номер текст"/>
          <p:cNvSpPr txBox="1"/>
          <p:nvPr/>
        </p:nvSpPr>
        <p:spPr>
          <a:xfrm>
            <a:off x="457200" y="201168"/>
            <a:ext cx="502920" cy="475488"/>
          </a:xfrm>
          <a:prstGeom prst="rect">
            <a:avLst/>
          </a:prstGeom>
          <a:noFill/>
          <a:ln/>
        </p:spPr>
        <p:txBody>
          <a:bodyPr wrap="square" lIns="0" tIns="0" rIns="0" bIns="0" rtlCol="0" anchor="ctr"/>
          <a:lstStyle/>
          <a:p>
            <a:pPr algn="ctr" indent="0" marL="0">
              <a:buNone/>
            </a:pPr>
            <a:r>
              <a:rPr lang="en-US" sz="1600" b="1" dirty="0">
                <a:solidFill>
                  <a:srgbClr val="0F2747"/>
                </a:solidFill>
                <a:latin typeface="Cambria" pitchFamily="34" charset="0"/>
                <a:ea typeface="Cambria" pitchFamily="34" charset="-122"/>
                <a:cs typeface="Cambria" pitchFamily="34" charset="-120"/>
              </a:rPr>
              <a:t>13</a:t>
            </a:r>
            <a:endParaRPr lang="en-US" sz="1600" dirty="0"/>
          </a:p>
        </p:txBody>
      </p:sp>
      <p:sp>
        <p:nvSpPr>
          <p:cNvPr id="5" name="Text 5"/>
          <p:cNvSpPr/>
          <p:nvPr>
            <p:ph idx="105" type="title" hasCustomPrompt="1"/>
          </p:nvPr>
        </p:nvSpPr>
        <p:spPr>
          <a:xfrm>
            <a:off x="1143000" y="137160"/>
            <a:ext cx="585216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Выводы</a:t>
            </a:r>
            <a:endParaRPr lang="en-US" sz="2600" dirty="0"/>
          </a:p>
        </p:txBody>
      </p:sp>
      <p:sp>
        <p:nvSpPr>
          <p:cNvPr id="6" name="ссылка на содержание">
            <a:hlinkClick r:id="rId1" tooltip="Перейти к содержанию" action="ppaction://hlinksldjump"/>
          </p:cNvPr>
          <p:cNvSpPr txBox="1"/>
          <p:nvPr/>
        </p:nvSpPr>
        <p:spPr>
          <a:xfrm>
            <a:off x="7543800" y="274320"/>
            <a:ext cx="1188720" cy="320040"/>
          </a:xfrm>
          <a:prstGeom prst="rect">
            <a:avLst/>
          </a:prstGeom>
          <a:noFill/>
          <a:ln/>
        </p:spPr>
        <p:txBody>
          <a:bodyPr wrap="square" lIns="0" tIns="0" rIns="0" bIns="0" rtlCol="0" anchor="ctr"/>
          <a:lstStyle/>
          <a:p>
            <a:pPr algn="r" indent="0" marL="0">
              <a:buNone/>
            </a:pPr>
            <a:r>
              <a:rPr lang="en-US" sz="1100" u="sng" dirty="0">
                <a:solidFill>
                  <a:srgbClr val="FFFFFF"/>
                </a:solidFill>
                <a:hlinkClick r:id="rId1"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
        <p:nvSpPr>
          <p:cNvPr id="7" name="подвал"/>
          <p:cNvSpPr txBox="1"/>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rgbClr val="6B778A"/>
                </a:solidFill>
              </a:rPr>
              <a:t>Курсовой проект · ПМ.02 · Вариант 21 «Санузел» · Итоги</a:t>
            </a:r>
            <a:endParaRPr lang="en-US" sz="1000" dirty="0"/>
          </a:p>
        </p:txBody>
      </p:sp>
      <p:sp>
        <p:nvSpPr>
          <p:cNvPr id="8" name="карточка Устройство"/>
          <p:cNvSpPr/>
          <p:nvPr/>
        </p:nvSpPr>
        <p:spPr>
          <a:xfrm>
            <a:off x="457200" y="1143000"/>
            <a:ext cx="2651760" cy="18745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9" name="акцент Устройство"/>
          <p:cNvSpPr/>
          <p:nvPr/>
        </p:nvSpPr>
        <p:spPr>
          <a:xfrm>
            <a:off x="457200" y="1143000"/>
            <a:ext cx="64008" cy="1874520"/>
          </a:xfrm>
          <a:prstGeom prst="rect">
            <a:avLst/>
          </a:prstGeom>
          <a:solidFill>
            <a:srgbClr val="1F6FB2"/>
          </a:solidFill>
          <a:ln w="12700">
            <a:solidFill>
              <a:srgbClr val="1F6FB2"/>
            </a:solidFill>
            <a:prstDash val="solid"/>
          </a:ln>
        </p:spPr>
      </p:sp>
      <p:sp>
        <p:nvSpPr>
          <p:cNvPr id="10" name="текст Устройство"/>
          <p:cNvSpPr txBox="1"/>
          <p:nvPr/>
        </p:nvSpPr>
        <p:spPr>
          <a:xfrm>
            <a:off x="640080" y="1188720"/>
            <a:ext cx="2377440" cy="1783080"/>
          </a:xfrm>
          <a:prstGeom prst="rect">
            <a:avLst/>
          </a:prstGeom>
          <a:noFill/>
          <a:ln/>
        </p:spPr>
        <p:txBody>
          <a:bodyPr wrap="square" lIns="0" tIns="0" rIns="0" bIns="0" rtlCol="0" anchor="ctr"/>
          <a:lstStyle/>
          <a:p>
            <a:pPr indent="0" marL="0">
              <a:buNone/>
            </a:pPr>
            <a:r>
              <a:rPr lang="en-US" sz="1900" b="1" dirty="0">
                <a:solidFill>
                  <a:srgbClr val="0F2747"/>
                </a:solidFill>
              </a:rPr>
              <a:t>Устройство</a:t>
            </a:r>
            <a:endParaRPr lang="en-US" sz="1900" dirty="0"/>
          </a:p>
          <a:p>
            <a:pPr indent="0" marL="0">
              <a:buNone/>
            </a:pPr>
            <a:r>
              <a:rPr lang="en-US" sz="1500" dirty="0">
                <a:solidFill>
                  <a:srgbClr val="1B2433"/>
                </a:solidFill>
              </a:rPr>
              <a:t>схема EasyEDA, модель Wokwi и прошивка Arduino Uno работают по заданию</a:t>
            </a:r>
            <a:endParaRPr lang="en-US" sz="1900" dirty="0"/>
          </a:p>
        </p:txBody>
      </p:sp>
      <p:sp>
        <p:nvSpPr>
          <p:cNvPr id="11" name="карточка Данные"/>
          <p:cNvSpPr/>
          <p:nvPr/>
        </p:nvSpPr>
        <p:spPr>
          <a:xfrm>
            <a:off x="3246120" y="1143000"/>
            <a:ext cx="2651760" cy="18745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2" name="акцент Данные"/>
          <p:cNvSpPr/>
          <p:nvPr/>
        </p:nvSpPr>
        <p:spPr>
          <a:xfrm>
            <a:off x="3246120" y="1143000"/>
            <a:ext cx="64008" cy="1874520"/>
          </a:xfrm>
          <a:prstGeom prst="rect">
            <a:avLst/>
          </a:prstGeom>
          <a:solidFill>
            <a:srgbClr val="1F6FB2"/>
          </a:solidFill>
          <a:ln w="12700">
            <a:solidFill>
              <a:srgbClr val="1F6FB2"/>
            </a:solidFill>
            <a:prstDash val="solid"/>
          </a:ln>
        </p:spPr>
      </p:sp>
      <p:sp>
        <p:nvSpPr>
          <p:cNvPr id="13" name="текст Данные"/>
          <p:cNvSpPr txBox="1"/>
          <p:nvPr/>
        </p:nvSpPr>
        <p:spPr>
          <a:xfrm>
            <a:off x="3429000" y="1188720"/>
            <a:ext cx="2377440" cy="1783080"/>
          </a:xfrm>
          <a:prstGeom prst="rect">
            <a:avLst/>
          </a:prstGeom>
          <a:noFill/>
          <a:ln/>
        </p:spPr>
        <p:txBody>
          <a:bodyPr wrap="square" lIns="0" tIns="0" rIns="0" bIns="0" rtlCol="0" anchor="ctr"/>
          <a:lstStyle/>
          <a:p>
            <a:pPr indent="0" marL="0">
              <a:buNone/>
            </a:pPr>
            <a:r>
              <a:rPr lang="en-US" sz="1900" b="1" dirty="0">
                <a:solidFill>
                  <a:srgbClr val="0F2747"/>
                </a:solidFill>
              </a:rPr>
              <a:t>Данные</a:t>
            </a:r>
            <a:endParaRPr lang="en-US" sz="1900" dirty="0"/>
          </a:p>
          <a:p>
            <a:pPr indent="0" marL="0">
              <a:buNone/>
            </a:pPr>
            <a:r>
              <a:rPr lang="en-US" sz="1500" dirty="0">
                <a:solidFill>
                  <a:srgbClr val="1B2433"/>
                </a:solidFill>
              </a:rPr>
              <a:t>журнал загружается в SQLite через Node-RED, значения вне диапазона дают FAULT</a:t>
            </a:r>
            <a:endParaRPr lang="en-US" sz="1900" dirty="0"/>
          </a:p>
        </p:txBody>
      </p:sp>
      <p:sp>
        <p:nvSpPr>
          <p:cNvPr id="14" name="карточка Проверка"/>
          <p:cNvSpPr/>
          <p:nvPr/>
        </p:nvSpPr>
        <p:spPr>
          <a:xfrm>
            <a:off x="6035040" y="1143000"/>
            <a:ext cx="2651760" cy="1874520"/>
          </a:xfrm>
          <a:prstGeom prst="rect">
            <a:avLst/>
          </a:prstGeom>
          <a:solidFill>
            <a:srgbClr val="FFFFFF"/>
          </a:solidFill>
          <a:ln w="9525">
            <a:solidFill>
              <a:srgbClr val="D3DCE8"/>
            </a:solidFill>
            <a:prstDash val="solid"/>
          </a:ln>
          <a:effectLst>
            <a:outerShdw sx="100000" sy="100000" kx="0" ky="0" algn="bl" rotWithShape="0" blurRad="63500" dist="25400" dir="5400000">
              <a:srgbClr val="000000">
                <a:alpha val="10000"/>
              </a:srgbClr>
            </a:outerShdw>
          </a:effectLst>
        </p:spPr>
      </p:sp>
      <p:sp>
        <p:nvSpPr>
          <p:cNvPr id="15" name="акцент Проверка"/>
          <p:cNvSpPr/>
          <p:nvPr/>
        </p:nvSpPr>
        <p:spPr>
          <a:xfrm>
            <a:off x="6035040" y="1143000"/>
            <a:ext cx="64008" cy="1874520"/>
          </a:xfrm>
          <a:prstGeom prst="rect">
            <a:avLst/>
          </a:prstGeom>
          <a:solidFill>
            <a:srgbClr val="1F6FB2"/>
          </a:solidFill>
          <a:ln w="12700">
            <a:solidFill>
              <a:srgbClr val="1F6FB2"/>
            </a:solidFill>
            <a:prstDash val="solid"/>
          </a:ln>
        </p:spPr>
      </p:sp>
      <p:sp>
        <p:nvSpPr>
          <p:cNvPr id="16" name="текст Проверка"/>
          <p:cNvSpPr txBox="1"/>
          <p:nvPr/>
        </p:nvSpPr>
        <p:spPr>
          <a:xfrm>
            <a:off x="6217920" y="1188720"/>
            <a:ext cx="2377440" cy="1783080"/>
          </a:xfrm>
          <a:prstGeom prst="rect">
            <a:avLst/>
          </a:prstGeom>
          <a:noFill/>
          <a:ln/>
        </p:spPr>
        <p:txBody>
          <a:bodyPr wrap="square" lIns="0" tIns="0" rIns="0" bIns="0" rtlCol="0" anchor="ctr"/>
          <a:lstStyle/>
          <a:p>
            <a:pPr indent="0" marL="0">
              <a:buNone/>
            </a:pPr>
            <a:r>
              <a:rPr lang="en-US" sz="1900" b="1" dirty="0">
                <a:solidFill>
                  <a:srgbClr val="0F2747"/>
                </a:solidFill>
              </a:rPr>
              <a:t>Проверка</a:t>
            </a:r>
            <a:endParaRPr lang="en-US" sz="1900" dirty="0"/>
          </a:p>
          <a:p>
            <a:pPr indent="0" marL="0">
              <a:buNone/>
            </a:pPr>
            <a:r>
              <a:rPr lang="en-US" sz="1500" dirty="0">
                <a:solidFill>
                  <a:srgbClr val="1B2433"/>
                </a:solidFill>
              </a:rPr>
              <a:t>THRESHOLD, NORMAL и FAULT подтверждены тестами, повторная загрузка без дублей</a:t>
            </a:r>
            <a:endParaRPr lang="en-US" sz="1900" dirty="0"/>
          </a:p>
        </p:txBody>
      </p:sp>
      <p:sp>
        <p:nvSpPr>
          <p:cNvPr id="17" name="карточка Что можно улучшить"/>
          <p:cNvSpPr/>
          <p:nvPr/>
        </p:nvSpPr>
        <p:spPr>
          <a:xfrm>
            <a:off x="457200" y="3200400"/>
            <a:ext cx="8229600" cy="1371600"/>
          </a:xfrm>
          <a:prstGeom prst="rect">
            <a:avLst/>
          </a:prstGeom>
          <a:solidFill>
            <a:srgbClr val="0F2747"/>
          </a:solidFill>
          <a:ln w="9525">
            <a:solidFill>
              <a:srgbClr val="0F2747"/>
            </a:solidFill>
            <a:prstDash val="solid"/>
          </a:ln>
          <a:effectLst>
            <a:outerShdw sx="100000" sy="100000" kx="0" ky="0" algn="bl" rotWithShape="0" blurRad="63500" dist="25400" dir="5400000">
              <a:srgbClr val="000000">
                <a:alpha val="10000"/>
              </a:srgbClr>
            </a:outerShdw>
          </a:effectLst>
        </p:spPr>
      </p:sp>
      <p:sp>
        <p:nvSpPr>
          <p:cNvPr id="18" name="акцент Что можно улучшить"/>
          <p:cNvSpPr/>
          <p:nvPr/>
        </p:nvSpPr>
        <p:spPr>
          <a:xfrm>
            <a:off x="457200" y="3200400"/>
            <a:ext cx="64008" cy="1371600"/>
          </a:xfrm>
          <a:prstGeom prst="rect">
            <a:avLst/>
          </a:prstGeom>
          <a:solidFill>
            <a:srgbClr val="C9A227"/>
          </a:solidFill>
          <a:ln w="12700">
            <a:solidFill>
              <a:srgbClr val="C9A227"/>
            </a:solidFill>
            <a:prstDash val="solid"/>
          </a:ln>
        </p:spPr>
      </p:sp>
      <p:sp>
        <p:nvSpPr>
          <p:cNvPr id="19" name="текст Что можно улучшить"/>
          <p:cNvSpPr txBox="1"/>
          <p:nvPr/>
        </p:nvSpPr>
        <p:spPr>
          <a:xfrm>
            <a:off x="640080" y="3246120"/>
            <a:ext cx="7955280" cy="1280160"/>
          </a:xfrm>
          <a:prstGeom prst="rect">
            <a:avLst/>
          </a:prstGeom>
          <a:noFill/>
          <a:ln/>
        </p:spPr>
        <p:txBody>
          <a:bodyPr wrap="square" lIns="0" tIns="0" rIns="0" bIns="0" rtlCol="0" anchor="ctr"/>
          <a:lstStyle/>
          <a:p>
            <a:pPr indent="0" marL="0">
              <a:buNone/>
            </a:pPr>
            <a:r>
              <a:rPr lang="en-US" sz="1900" b="1" dirty="0">
                <a:solidFill>
                  <a:srgbClr val="C9A227"/>
                </a:solidFill>
              </a:rPr>
              <a:t>Что можно улучшить</a:t>
            </a:r>
            <a:endParaRPr lang="en-US" sz="1900" dirty="0"/>
          </a:p>
          <a:p>
            <a:pPr indent="0" marL="0">
              <a:buNone/>
            </a:pPr>
            <a:r>
              <a:rPr lang="en-US" sz="1600" dirty="0">
                <a:solidFill>
                  <a:srgbClr val="FFFFFF"/>
                </a:solidFill>
              </a:rPr>
              <a:t>читать DHT22 раз в 2 секунды · добавить задержку выключения вентилятора (гистерезис) · записывать журнал на SD-карту</a:t>
            </a:r>
            <a:endParaRPr lang="en-US" sz="19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78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декор 1"/>
          <p:cNvSpPr/>
          <p:nvPr/>
        </p:nvSpPr>
        <p:spPr>
          <a:xfrm rot="1080000">
            <a:off x="6035040" y="-548640"/>
            <a:ext cx="2011680" cy="6400800"/>
          </a:xfrm>
          <a:prstGeom prst="rect">
            <a:avLst/>
          </a:prstGeom>
          <a:solidFill>
            <a:srgbClr val="1F6FB2">
              <a:alpha val="30000"/>
            </a:srgbClr>
          </a:solidFill>
          <a:ln w="12700">
            <a:solidFill>
              <a:srgbClr val="1F6FB2"/>
            </a:solidFill>
            <a:prstDash val="solid"/>
          </a:ln>
        </p:spPr>
      </p:sp>
      <p:sp>
        <p:nvSpPr>
          <p:cNvPr id="4" name="спасибо"/>
          <p:cNvSpPr txBox="1"/>
          <p:nvPr/>
        </p:nvSpPr>
        <p:spPr>
          <a:xfrm>
            <a:off x="640080" y="548640"/>
            <a:ext cx="5486400" cy="320040"/>
          </a:xfrm>
          <a:prstGeom prst="rect">
            <a:avLst/>
          </a:prstGeom>
          <a:noFill/>
          <a:ln/>
        </p:spPr>
        <p:txBody>
          <a:bodyPr wrap="square" lIns="0" tIns="0" rIns="0" bIns="0" rtlCol="0" anchor="ctr"/>
          <a:lstStyle/>
          <a:p>
            <a:pPr indent="0" marL="0">
              <a:buNone/>
            </a:pPr>
            <a:r>
              <a:rPr lang="en-US" sz="1300" b="1" spc="300" kern="0" dirty="0">
                <a:solidFill>
                  <a:srgbClr val="C9A227"/>
                </a:solidFill>
              </a:rPr>
              <a:t>СПАСИБО ЗА ВНИМАНИЕ</a:t>
            </a:r>
            <a:endParaRPr lang="en-US" sz="1300" dirty="0"/>
          </a:p>
        </p:txBody>
      </p:sp>
      <p:sp>
        <p:nvSpPr>
          <p:cNvPr id="5" name="заголовок репозитория"/>
          <p:cNvSpPr txBox="1"/>
          <p:nvPr/>
        </p:nvSpPr>
        <p:spPr>
          <a:xfrm>
            <a:off x="640080" y="1005840"/>
            <a:ext cx="4937760" cy="10972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Весь проект в репозитории на GitHub</a:t>
            </a:r>
            <a:endParaRPr lang="en-US" sz="3000" dirty="0"/>
          </a:p>
        </p:txBody>
      </p:sp>
      <p:sp>
        <p:nvSpPr>
          <p:cNvPr id="6" name="ссылка на репозиторий">
            <a:hlinkClick r:id="rId1" tooltip="Открыть репозиторий"/>
          </p:cNvPr>
          <p:cNvSpPr txBox="1"/>
          <p:nvPr/>
        </p:nvSpPr>
        <p:spPr>
          <a:xfrm>
            <a:off x="640080" y="2194560"/>
            <a:ext cx="5120640" cy="411480"/>
          </a:xfrm>
          <a:prstGeom prst="rect">
            <a:avLst/>
          </a:prstGeom>
          <a:noFill/>
          <a:ln/>
        </p:spPr>
        <p:txBody>
          <a:bodyPr wrap="square" lIns="0" tIns="0" rIns="0" bIns="0" rtlCol="0" anchor="ctr"/>
          <a:lstStyle/>
          <a:p>
            <a:pPr indent="0" marL="0">
              <a:buNone/>
            </a:pPr>
            <a:r>
              <a:rPr lang="en-US" sz="1800" b="1" u="sng" dirty="0">
                <a:solidFill>
                  <a:srgbClr val="C9A227"/>
                </a:solidFill>
                <a:hlinkClick r:id="rId1" invalidUrl="" action="" tgtFrame="" tooltip="Открыть репозиторий" history="1" highlightClick="0" endSnd="0">
                  <a:extLst>
                    <a:ext uri="{A12FA001-AC4F-418D-AE19-62706E023703}">
                      <ahyp:hlinkClr xmlns:ahyp="http://schemas.microsoft.com/office/drawing/2018/hyperlinkcolor" val="tx"/>
                    </a:ext>
                  </a:extLst>
                </a:hlinkClick>
              </a:rPr>
              <a:t>github.com/volan11/kyrsovaya21</a:t>
            </a:r>
            <a:endParaRPr lang="en-US" sz="1800" dirty="0"/>
          </a:p>
        </p:txBody>
      </p:sp>
      <p:sp>
        <p:nvSpPr>
          <p:cNvPr id="7" name="состав репозитория"/>
          <p:cNvSpPr txBox="1"/>
          <p:nvPr/>
        </p:nvSpPr>
        <p:spPr>
          <a:xfrm>
            <a:off x="640080" y="2880360"/>
            <a:ext cx="4937760" cy="1097280"/>
          </a:xfrm>
          <a:prstGeom prst="rect">
            <a:avLst/>
          </a:prstGeom>
          <a:noFill/>
          <a:ln/>
        </p:spPr>
        <p:txBody>
          <a:bodyPr wrap="square" lIns="0" tIns="0" rIns="0" bIns="0" rtlCol="0" anchor="t"/>
          <a:lstStyle/>
          <a:p>
            <a:pPr marL="342900" indent="-342900">
              <a:buSzPct val="100000"/>
              <a:buChar char="•"/>
            </a:pPr>
            <a:r>
              <a:rPr lang="en-US" sz="1500" dirty="0">
                <a:solidFill>
                  <a:srgbClr val="DCE8F5"/>
                </a:solidFill>
              </a:rPr>
              <a:t>прошивка и модель Wokwi</a:t>
            </a:r>
            <a:endParaRPr lang="en-US" sz="1500" dirty="0"/>
          </a:p>
          <a:p>
            <a:pPr marL="342900" indent="-342900">
              <a:buSzPct val="100000"/>
              <a:buChar char="•"/>
            </a:pPr>
            <a:r>
              <a:rPr lang="en-US" sz="1500" dirty="0">
                <a:solidFill>
                  <a:srgbClr val="DCE8F5"/>
                </a:solidFill>
              </a:rPr>
              <a:t>база данных и поток Node-RED</a:t>
            </a:r>
            <a:endParaRPr lang="en-US" sz="1500" dirty="0"/>
          </a:p>
          <a:p>
            <a:pPr marL="342900" indent="-342900">
              <a:buSzPct val="100000"/>
              <a:buChar char="•"/>
            </a:pPr>
            <a:r>
              <a:rPr lang="en-US" sz="1500" dirty="0">
                <a:solidFill>
                  <a:srgbClr val="DCE8F5"/>
                </a:solidFill>
              </a:rPr>
              <a:t>журналы, схемы, записка и презентация</a:t>
            </a:r>
            <a:endParaRPr lang="en-US" sz="1500" dirty="0"/>
          </a:p>
        </p:txBody>
      </p:sp>
      <p:sp>
        <p:nvSpPr>
          <p:cNvPr id="8" name="вопросы"/>
          <p:cNvSpPr txBox="1"/>
          <p:nvPr/>
        </p:nvSpPr>
        <p:spPr>
          <a:xfrm>
            <a:off x="640080" y="4206240"/>
            <a:ext cx="4572000" cy="45720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Вопросы?</a:t>
            </a:r>
            <a:endParaRPr lang="en-US" sz="2000" dirty="0"/>
          </a:p>
        </p:txBody>
      </p:sp>
      <p:sp>
        <p:nvSpPr>
          <p:cNvPr id="9" name="карточка QR"/>
          <p:cNvSpPr/>
          <p:nvPr/>
        </p:nvSpPr>
        <p:spPr>
          <a:xfrm>
            <a:off x="5989320" y="914400"/>
            <a:ext cx="2743200" cy="3108960"/>
          </a:xfrm>
          <a:prstGeom prst="rect">
            <a:avLst/>
          </a:prstGeom>
          <a:solidFill>
            <a:srgbClr val="FFFFFF"/>
          </a:solidFill>
          <a:ln w="25400">
            <a:solidFill>
              <a:srgbClr val="C9A227"/>
            </a:solidFill>
            <a:prstDash val="solid"/>
          </a:ln>
          <a:effectLst>
            <a:outerShdw sx="100000" sy="100000" kx="0" ky="0" algn="bl" rotWithShape="0" blurRad="127000" dist="38100" dir="5400000">
              <a:srgbClr val="000000">
                <a:alpha val="30000"/>
              </a:srgbClr>
            </a:outerShdw>
          </a:effectLst>
        </p:spPr>
      </p:sp>
      <p:pic>
        <p:nvPicPr>
          <p:cNvPr id="10" name="QR-код репозитория" descr="QR-код со ссылкой на репозиторий github.com/volan11/kyrsovaya21">
            <a:hlinkClick r:id="rId3" tooltip="Открыть репозиторий"/>
          </p:cNvPr>
          <p:cNvPicPr>
            <a:picLocks noChangeAspect="1"/>
          </p:cNvPicPr>
          <p:nvPr/>
        </p:nvPicPr>
        <p:blipFill>
          <a:blip r:embed="rId2"/>
          <a:stretch>
            <a:fillRect/>
          </a:stretch>
        </p:blipFill>
        <p:spPr>
          <a:xfrm>
            <a:off x="6172200" y="1051560"/>
            <a:ext cx="2377440" cy="2377440"/>
          </a:xfrm>
          <a:prstGeom prst="rect">
            <a:avLst/>
          </a:prstGeom>
        </p:spPr>
      </p:pic>
      <p:sp>
        <p:nvSpPr>
          <p:cNvPr id="11" name="подпись QR"/>
          <p:cNvSpPr txBox="1"/>
          <p:nvPr/>
        </p:nvSpPr>
        <p:spPr>
          <a:xfrm>
            <a:off x="5989320" y="3474720"/>
            <a:ext cx="2743200" cy="411480"/>
          </a:xfrm>
          <a:prstGeom prst="rect">
            <a:avLst/>
          </a:prstGeom>
          <a:noFill/>
          <a:ln/>
        </p:spPr>
        <p:txBody>
          <a:bodyPr wrap="square" lIns="0" tIns="0" rIns="0" bIns="0" rtlCol="0" anchor="ctr"/>
          <a:lstStyle/>
          <a:p>
            <a:pPr algn="ctr" indent="0" marL="0">
              <a:buNone/>
            </a:pPr>
            <a:r>
              <a:rPr lang="en-US" sz="1200" b="1" dirty="0">
                <a:solidFill>
                  <a:srgbClr val="0F2747"/>
                </a:solidFill>
              </a:rPr>
              <a:t>Наведите камеру телефона</a:t>
            </a:r>
            <a:endParaRPr lang="en-US" sz="1200" dirty="0"/>
          </a:p>
        </p:txBody>
      </p:sp>
      <p:sp>
        <p:nvSpPr>
          <p:cNvPr id="12" name="ссылка на содержание">
            <a:hlinkClick r:id="rId4" tooltip="Перейти к содержанию" action="ppaction://hlinksldjump"/>
          </p:cNvPr>
          <p:cNvSpPr txBox="1"/>
          <p:nvPr/>
        </p:nvSpPr>
        <p:spPr>
          <a:xfrm>
            <a:off x="7223760" y="4663440"/>
            <a:ext cx="1463040" cy="274320"/>
          </a:xfrm>
          <a:prstGeom prst="rect">
            <a:avLst/>
          </a:prstGeom>
          <a:noFill/>
          <a:ln/>
        </p:spPr>
        <p:txBody>
          <a:bodyPr wrap="square" lIns="0" tIns="0" rIns="0" bIns="0" rtlCol="0" anchor="ctr"/>
          <a:lstStyle/>
          <a:p>
            <a:pPr algn="r" indent="0" marL="0">
              <a:buNone/>
            </a:pPr>
            <a:r>
              <a:rPr lang="en-US" sz="1100" u="sng" dirty="0">
                <a:solidFill>
                  <a:srgbClr val="AFC3DA"/>
                </a:solidFill>
                <a:hlinkClick r:id="rId4" action="ppaction://hlinksldjump" tooltip="Перейти к содержанию">
                  <a:extLst>
                    <a:ext uri="{A12FA001-AC4F-418D-AE19-62706E023703}">
                      <ahyp:hlinkClr xmlns:ahyp="http://schemas.microsoft.com/office/drawing/2018/hyperlinkcolor" val="tx"/>
                    </a:ext>
                  </a:extLst>
                </a:hlinkClick>
              </a:rPr>
              <a:t>☰ Содержание</a:t>
            </a:r>
            <a:endParaRPr lang="en-US" sz="1100" dirty="0"/>
          </a:p>
        </p:txBody>
      </p:sp>
    </p:spTree>
  </p:cSld>
  <p:clrMapOvr>
    <a:masterClrMapping/>
  </p:clrMapOvr>
</p:sld>
</file>

<file path=ppt/theme/theme1.xml><?xml version="1.0" encoding="utf-8"?>
<a:theme xmlns:a="http://schemas.openxmlformats.org/drawingml/2006/main" name="Sanuzel21">
  <a:themeElements>
    <a:clrScheme name="Sanuzel21">
      <a:dk1>
        <a:srgbClr val="1B2433"/>
      </a:dk1>
      <a:lt1>
        <a:srgbClr val="FFFFFF"/>
      </a:lt1>
      <a:dk2>
        <a:srgbClr val="0F2747"/>
      </a:dk2>
      <a:lt2>
        <a:srgbClr val="F3F6FA"/>
      </a:lt2>
      <a:accent1>
        <a:srgbClr val="1F6FB2"/>
      </a:accent1>
      <a:accent2>
        <a:srgbClr val="C9372C"/>
      </a:accent2>
      <a:accent3>
        <a:srgbClr val="C9A227"/>
      </a:accent3>
      <a:accent4>
        <a:srgbClr val="2E7D5B"/>
      </a:accent4>
      <a:accent5>
        <a:srgbClr val="6B778A"/>
      </a:accent5>
      <a:accent6>
        <a:srgbClr val="14808C"/>
      </a:accent6>
      <a:hlink>
        <a:srgbClr val="1F6FB2"/>
      </a:hlink>
      <a:folHlink>
        <a:srgbClr val="6B778A"/>
      </a:folHlink>
    </a:clrScheme>
    <a:fontScheme name="Sanuzel2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Курсовой проект. Вариант 21. Санузел</dc:title>
  <dc:subject>PptxGenJS Presentation</dc:subject>
  <dc:creator>Трофимовская Милена</dc:creator>
  <cp:lastModifiedBy>Трофимовская Милена</cp:lastModifiedBy>
  <cp:revision>1</cp:revision>
  <dcterms:created xsi:type="dcterms:W3CDTF">2026-10-31T09:27:08Z</dcterms:created>
  <dcterms:modified xsi:type="dcterms:W3CDTF">2026-10-31T09:27:08Z</dcterms:modified>
</cp:coreProperties>
</file>